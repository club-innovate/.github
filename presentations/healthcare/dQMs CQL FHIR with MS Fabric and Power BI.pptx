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7"/>
  </p:notesMasterIdLst>
  <p:sldIdLst>
    <p:sldId id="257" r:id="rId5"/>
    <p:sldId id="258" r:id="rId6"/>
    <p:sldId id="275" r:id="rId7"/>
    <p:sldId id="284" r:id="rId8"/>
    <p:sldId id="276" r:id="rId9"/>
    <p:sldId id="277" r:id="rId10"/>
    <p:sldId id="262" r:id="rId11"/>
    <p:sldId id="279" r:id="rId12"/>
    <p:sldId id="281" r:id="rId13"/>
    <p:sldId id="280" r:id="rId14"/>
    <p:sldId id="278"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4" autoAdjust="0"/>
    <p:restoredTop sz="93689" autoAdjust="0"/>
  </p:normalViewPr>
  <p:slideViewPr>
    <p:cSldViewPr snapToGrid="0">
      <p:cViewPr varScale="1">
        <p:scale>
          <a:sx n="107" d="100"/>
          <a:sy n="107" d="100"/>
        </p:scale>
        <p:origin x="378" y="96"/>
      </p:cViewPr>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5716D-39C9-48C4-A3EB-B88E4515427D}"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C6D3C-9EB0-4F2C-9026-3887D1CDB44E}" type="slidenum">
              <a:rPr lang="en-US" smtClean="0"/>
              <a:t>‹#›</a:t>
            </a:fld>
            <a:endParaRPr lang="en-US"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anchor="ctr"/>
          <a:lstStyle>
            <a:lvl1pPr marL="0" indent="0" algn="l">
              <a:lnSpc>
                <a:spcPct val="100000"/>
              </a:lnSpc>
              <a:buNone/>
              <a:defRPr sz="1200" i="1">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prstGeom prst="rect">
            <a:avLst/>
          </a:prstGeom>
          <a:solidFill>
            <a:schemeClr val="accent4">
              <a:lumMod val="75000"/>
              <a:alpha val="70000"/>
            </a:schemeClr>
          </a:solidFill>
        </p:spPr>
        <p:txBody>
          <a:bodyPr lIns="1116000" rIns="180000" anchor="ctr"/>
          <a:lstStyle>
            <a:lvl1pPr algn="l">
              <a:defRPr sz="500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7" name="Footer Placeholder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9E8B0AE2-DA19-49E2-AC81-5272385D304C}"/>
              </a:ext>
            </a:extLst>
          </p:cNvPr>
          <p:cNvSpPr>
            <a:spLocks noGrp="1"/>
          </p:cNvSpPr>
          <p:nvPr>
            <p:ph type="sldNum" sz="quarter" idx="11"/>
          </p:nvPr>
        </p:nvSpPr>
        <p:spPr>
          <a:solidFill>
            <a:schemeClr val="accent4">
              <a:lumMod val="50000"/>
            </a:schemeClr>
          </a:solidFill>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21423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a:lstStyle>
            <a:lvl1pPr marL="0" indent="0">
              <a:lnSpc>
                <a:spcPts val="2000"/>
              </a:lnSpc>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Describe Your Big Idea</a:t>
            </a:r>
          </a:p>
        </p:txBody>
      </p:sp>
      <p:sp>
        <p:nvSpPr>
          <p:cNvPr id="21" name="Picture Placeholder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anchor="ctr">
            <a:noAutofit/>
          </a:bodyPr>
          <a:lstStyle>
            <a:lvl1pPr marL="0" indent="0" algn="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12" name="Titl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a:prstGeom prst="rect">
            <a:avLst/>
          </a:prstGeom>
        </p:spPr>
        <p:txBody>
          <a:bodyPr/>
          <a:lstStyle>
            <a:lvl1pPr>
              <a:defRPr sz="4000" cap="none"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19" name="Freeform: Shap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659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X Number &amp; Icon">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338328"/>
            <a:ext cx="7560000" cy="360000"/>
          </a:xfrm>
          <a:prstGeom prst="rect">
            <a:avLst/>
          </a:prstGeom>
        </p:spPr>
        <p:txBody>
          <a:bodyPr/>
          <a:lstStyle>
            <a:lvl1pPr>
              <a:defRPr cap="none"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Placeholder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1" name="Text Placeholder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2" name="Text Placeholder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3" name="Text Placeholder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4" name="Text Placeholder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5" name="Text Placeholder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7" name="Text Placeholder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9" name="Text Placeholder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Subtitl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solidFill>
            <a:schemeClr val="accent4">
              <a:lumMod val="50000"/>
            </a:schemeClr>
          </a:solidFill>
        </p:spPr>
        <p:txBody>
          <a:bodyPr lIns="0" anchor="ctr"/>
          <a:lstStyle>
            <a:lvl1pPr marL="0" indent="0" algn="ctr">
              <a:buNone/>
              <a:defRPr sz="2400" b="1" i="1">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Outcome</a:t>
            </a:r>
          </a:p>
        </p:txBody>
      </p:sp>
      <p:sp>
        <p:nvSpPr>
          <p:cNvPr id="26" name="Picture Placeholder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27" name="Picture Placeholder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28" name="Picture Placeholder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29" name="Picture Placeholder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30" name="Picture Placeholder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Tree>
    <p:extLst>
      <p:ext uri="{BB962C8B-B14F-4D97-AF65-F5344CB8AC3E}">
        <p14:creationId xmlns:p14="http://schemas.microsoft.com/office/powerpoint/2010/main" val="389258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0 40 Vertical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Placeholder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0BDF8FE7-66F4-4586-B49B-61E115ED291E}"/>
              </a:ext>
            </a:extLst>
          </p:cNvPr>
          <p:cNvSpPr>
            <a:spLocks noGrp="1"/>
          </p:cNvSpPr>
          <p:nvPr>
            <p:ph type="title"/>
          </p:nvPr>
        </p:nvSpPr>
        <p:spPr>
          <a:xfrm>
            <a:off x="684000" y="338328"/>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Click to edit Master title style</a:t>
            </a:r>
          </a:p>
        </p:txBody>
      </p:sp>
      <p:sp>
        <p:nvSpPr>
          <p:cNvPr id="6" name="Footer Placeholder 5">
            <a:extLst>
              <a:ext uri="{FF2B5EF4-FFF2-40B4-BE49-F238E27FC236}">
                <a16:creationId xmlns:a16="http://schemas.microsoft.com/office/drawing/2014/main" id="{AEB5B890-F885-418C-9812-59970CAC6BCD}"/>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7" name="Slide Number Placeholder 6">
            <a:extLst>
              <a:ext uri="{FF2B5EF4-FFF2-40B4-BE49-F238E27FC236}">
                <a16:creationId xmlns:a16="http://schemas.microsoft.com/office/drawing/2014/main" id="{50521507-88DE-417D-8076-D9152E1E1409}"/>
              </a:ext>
            </a:extLst>
          </p:cNvPr>
          <p:cNvSpPr>
            <a:spLocks noGrp="1"/>
          </p:cNvSpPr>
          <p:nvPr>
            <p:ph type="sldNum" sz="quarter" idx="11"/>
          </p:nvPr>
        </p:nvSpPr>
        <p:spPr>
          <a:solidFill>
            <a:schemeClr val="accent4">
              <a:lumMod val="50000"/>
            </a:schemeClr>
          </a:solidFill>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4" name="Text Placeholder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941832"/>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SUBTITLE</a:t>
            </a:r>
          </a:p>
        </p:txBody>
      </p:sp>
      <p:sp>
        <p:nvSpPr>
          <p:cNvPr id="21" name="Freeform: Shap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894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 x Content Block with Icon">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anchor="t">
            <a:noAutofit/>
          </a:bodyPr>
          <a:lstStyle>
            <a:lvl1pPr marL="0" indent="0" algn="ct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9" name="Freeform: Shap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338328"/>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9" name="Text Placeholder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0" name="Text Placeholder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1" name="Text Placeholder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Text Placeholder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3" name="Text Placeholder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4" name="Text Placeholder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Tree>
    <p:extLst>
      <p:ext uri="{BB962C8B-B14F-4D97-AF65-F5344CB8AC3E}">
        <p14:creationId xmlns:p14="http://schemas.microsoft.com/office/powerpoint/2010/main" val="387598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 x Content Block with Ic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338328"/>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anchor="ct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anchor="ct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anchor="ct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941832"/>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SUBTITLE</a:t>
            </a:r>
          </a:p>
        </p:txBody>
      </p:sp>
      <p:sp>
        <p:nvSpPr>
          <p:cNvPr id="26" name="Freeform: Shap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259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Only - Dark">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26" name="Freeform: Shap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75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Only - Full Photo">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a:prstGeom prst="rect">
            <a:avLst/>
          </a:prstGeom>
        </p:spPr>
        <p:txBody>
          <a:bodyPr/>
          <a:lstStyle>
            <a:lvl1pPr>
              <a:defRPr cap="all"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 Placeholder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03936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Only - Ligh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939474"/>
            <a:ext cx="7559675" cy="360000"/>
          </a:xfrm>
        </p:spPr>
        <p:txBody>
          <a:bodyPr/>
          <a:lstStyle>
            <a:lvl1pPr marL="0" indent="0">
              <a:buNone/>
              <a:defRPr sz="2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3" name="Title 2">
            <a:extLst>
              <a:ext uri="{FF2B5EF4-FFF2-40B4-BE49-F238E27FC236}">
                <a16:creationId xmlns:a16="http://schemas.microsoft.com/office/drawing/2014/main" id="{72F32FC1-1FF6-4874-9835-EB1A90F7E9F5}"/>
              </a:ext>
            </a:extLst>
          </p:cNvPr>
          <p:cNvSpPr>
            <a:spLocks noGrp="1"/>
          </p:cNvSpPr>
          <p:nvPr>
            <p:ph type="title"/>
          </p:nvPr>
        </p:nvSpPr>
        <p:spPr>
          <a:xfrm>
            <a:off x="685800" y="342017"/>
            <a:ext cx="7560000" cy="370166"/>
          </a:xfrm>
          <a:prstGeom prst="rect">
            <a:avLst/>
          </a:prstGeom>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10" name="Freeform: Shap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773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22" name="Text Placeholder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3" name="Text Placeholder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4" name="Text Placeholder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7" name="Text Placeholder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8" name="Text Placeholder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32" name="Text Placeholder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33" name="Picture Placeholder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4" name="Picture Placeholder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5" name="Picture Placeholder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 name="Title 2">
            <a:extLst>
              <a:ext uri="{FF2B5EF4-FFF2-40B4-BE49-F238E27FC236}">
                <a16:creationId xmlns:a16="http://schemas.microsoft.com/office/drawing/2014/main" id="{7C0EBF36-B9CA-4962-B198-27B56B54E58C}"/>
              </a:ext>
            </a:extLst>
          </p:cNvPr>
          <p:cNvSpPr>
            <a:spLocks noGrp="1"/>
          </p:cNvSpPr>
          <p:nvPr>
            <p:ph type="title"/>
          </p:nvPr>
        </p:nvSpPr>
        <p:spPr>
          <a:xfrm>
            <a:off x="684000" y="808186"/>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Tree>
    <p:extLst>
      <p:ext uri="{BB962C8B-B14F-4D97-AF65-F5344CB8AC3E}">
        <p14:creationId xmlns:p14="http://schemas.microsoft.com/office/powerpoint/2010/main" val="239219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a:lstStyle>
            <a:lvl1pPr marL="0" indent="0">
              <a:buNone/>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anchor="ctr"/>
          <a:lstStyle>
            <a:lvl1pPr marL="0" indent="0" algn="ctr">
              <a:buNone/>
              <a:defRPr sz="1050" i="1">
                <a:latin typeface="Calibri" panose="020F0502020204030204" pitchFamily="34" charset="0"/>
                <a:ea typeface="Calibri" panose="020F0502020204030204" pitchFamily="34" charset="0"/>
                <a:cs typeface="Calibri" panose="020F0502020204030204" pitchFamily="34" charset="0"/>
              </a:defRPr>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anchor="ctr"/>
          <a:lstStyle>
            <a:lvl1pPr marL="0" indent="0" algn="ctr">
              <a:buNone/>
              <a:defRPr sz="1050" i="1">
                <a:latin typeface="Calibri" panose="020F0502020204030204" pitchFamily="34" charset="0"/>
                <a:ea typeface="Calibri" panose="020F0502020204030204" pitchFamily="34" charset="0"/>
                <a:cs typeface="Calibri" panose="020F0502020204030204" pitchFamily="34" charset="0"/>
              </a:defRPr>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anchor="ctr"/>
          <a:lstStyle>
            <a:lvl1pPr marL="0" indent="0" algn="ctr">
              <a:buNone/>
              <a:defRPr sz="1050" i="1">
                <a:latin typeface="Calibri" panose="020F0502020204030204" pitchFamily="34" charset="0"/>
                <a:ea typeface="Calibri" panose="020F0502020204030204" pitchFamily="34" charset="0"/>
                <a:cs typeface="Calibri" panose="020F0502020204030204" pitchFamily="34" charset="0"/>
              </a:defRPr>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a:lstStyle>
            <a:lvl1pPr marL="0" indent="0">
              <a:buNone/>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a:lstStyle>
            <a:lvl1pPr marL="0" indent="0">
              <a:buNone/>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Description Here</a:t>
            </a:r>
          </a:p>
        </p:txBody>
      </p:sp>
      <p:sp>
        <p:nvSpPr>
          <p:cNvPr id="4" name="Text Placeholder 3">
            <a:extLst>
              <a:ext uri="{FF2B5EF4-FFF2-40B4-BE49-F238E27FC236}">
                <a16:creationId xmlns:a16="http://schemas.microsoft.com/office/drawing/2014/main" id="{A957F0CD-450E-24AA-0D91-CDB026C12B8C}"/>
              </a:ext>
            </a:extLst>
          </p:cNvPr>
          <p:cNvSpPr>
            <a:spLocks noGrp="1"/>
          </p:cNvSpPr>
          <p:nvPr>
            <p:ph type="body" sz="quarter" idx="12" hasCustomPrompt="1"/>
          </p:nvPr>
        </p:nvSpPr>
        <p:spPr>
          <a:xfrm>
            <a:off x="684213" y="939474"/>
            <a:ext cx="7559675" cy="360000"/>
          </a:xfrm>
        </p:spPr>
        <p:txBody>
          <a:bodyPr/>
          <a:lstStyle>
            <a:lvl1pPr marL="0" indent="0">
              <a:buNone/>
              <a:defRPr sz="2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
        <p:nvSpPr>
          <p:cNvPr id="5" name="Title 2">
            <a:extLst>
              <a:ext uri="{FF2B5EF4-FFF2-40B4-BE49-F238E27FC236}">
                <a16:creationId xmlns:a16="http://schemas.microsoft.com/office/drawing/2014/main" id="{1D4D1C75-BBA4-2096-AD1E-5743992ED946}"/>
              </a:ext>
            </a:extLst>
          </p:cNvPr>
          <p:cNvSpPr>
            <a:spLocks noGrp="1"/>
          </p:cNvSpPr>
          <p:nvPr>
            <p:ph type="title"/>
          </p:nvPr>
        </p:nvSpPr>
        <p:spPr>
          <a:xfrm>
            <a:off x="684000" y="342017"/>
            <a:ext cx="7560000" cy="370166"/>
          </a:xfrm>
          <a:prstGeom prst="rect">
            <a:avLst/>
          </a:prstGeom>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211947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p:nvPr>
        </p:nvSpPr>
        <p:spPr/>
        <p:txBody>
          <a:bodyPr/>
          <a:lstStyle>
            <a:lvl1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4" name="Text Placeholder 3">
            <a:extLst>
              <a:ext uri="{FF2B5EF4-FFF2-40B4-BE49-F238E27FC236}">
                <a16:creationId xmlns:a16="http://schemas.microsoft.com/office/drawing/2014/main" id="{0F239191-62A6-C5B5-AF62-09BD602F94A0}"/>
              </a:ext>
            </a:extLst>
          </p:cNvPr>
          <p:cNvSpPr>
            <a:spLocks noGrp="1"/>
          </p:cNvSpPr>
          <p:nvPr>
            <p:ph type="body" sz="quarter" idx="12" hasCustomPrompt="1"/>
          </p:nvPr>
        </p:nvSpPr>
        <p:spPr>
          <a:xfrm>
            <a:off x="684213" y="939474"/>
            <a:ext cx="7559675" cy="360000"/>
          </a:xfrm>
        </p:spPr>
        <p:txBody>
          <a:bodyPr/>
          <a:lstStyle>
            <a:lvl1pPr marL="0" indent="0">
              <a:buNone/>
              <a:defRPr sz="2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
        <p:nvSpPr>
          <p:cNvPr id="5" name="Title 2">
            <a:extLst>
              <a:ext uri="{FF2B5EF4-FFF2-40B4-BE49-F238E27FC236}">
                <a16:creationId xmlns:a16="http://schemas.microsoft.com/office/drawing/2014/main" id="{2E638EAA-0F8B-22EF-A534-CC7525FD7772}"/>
              </a:ext>
            </a:extLst>
          </p:cNvPr>
          <p:cNvSpPr>
            <a:spLocks noGrp="1"/>
          </p:cNvSpPr>
          <p:nvPr>
            <p:ph type="title"/>
          </p:nvPr>
        </p:nvSpPr>
        <p:spPr>
          <a:xfrm>
            <a:off x="684000" y="342017"/>
            <a:ext cx="7560000" cy="370166"/>
          </a:xfrm>
          <a:prstGeom prst="rect">
            <a:avLst/>
          </a:prstGeom>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04174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0" tIns="0" rIns="612000" anchor="ctr"/>
          <a:lstStyle>
            <a:lvl1pPr marL="0" indent="0" algn="r">
              <a:lnSpc>
                <a:spcPct val="100000"/>
              </a:lnSpc>
              <a:buNone/>
              <a:defRPr sz="1200" i="1">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hasCustomPrompt="1"/>
          </p:nvPr>
        </p:nvSpPr>
        <p:spPr>
          <a:xfrm>
            <a:off x="0" y="0"/>
            <a:ext cx="9672000" cy="6857999"/>
          </a:xfrm>
          <a:prstGeom prst="rect">
            <a:avLst/>
          </a:prstGeom>
          <a:solidFill>
            <a:schemeClr val="accent4">
              <a:lumMod val="75000"/>
              <a:alpha val="70000"/>
            </a:schemeClr>
          </a:solidFill>
        </p:spPr>
        <p:txBody>
          <a:bodyPr lIns="1116000" rIns="180000" bIns="756000" anchor="ctr"/>
          <a:lstStyle>
            <a:lvl1pPr algn="l">
              <a:lnSpc>
                <a:spcPct val="65000"/>
              </a:lnSpc>
              <a:defRPr sz="8800" cap="none"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Thank You!</a:t>
            </a:r>
          </a:p>
        </p:txBody>
      </p:sp>
      <p:sp>
        <p:nvSpPr>
          <p:cNvPr id="6" name="Text Placeholder 5">
            <a:extLst>
              <a:ext uri="{FF2B5EF4-FFF2-40B4-BE49-F238E27FC236}">
                <a16:creationId xmlns:a16="http://schemas.microsoft.com/office/drawing/2014/main" id="{D49FD1A9-E34B-4888-90DE-493861AD75C6}"/>
              </a:ext>
            </a:extLst>
          </p:cNvPr>
          <p:cNvSpPr>
            <a:spLocks noGrp="1"/>
          </p:cNvSpPr>
          <p:nvPr>
            <p:ph type="body" sz="quarter" idx="13" hasCustomPrompt="1"/>
          </p:nvPr>
        </p:nvSpPr>
        <p:spPr>
          <a:xfrm>
            <a:off x="1917700" y="4508500"/>
            <a:ext cx="3314700" cy="330200"/>
          </a:xfrm>
        </p:spPr>
        <p:txBody>
          <a:bodyPr anchor="t"/>
          <a:lstStyle>
            <a:lvl1pPr marL="0" indent="0">
              <a:buNone/>
              <a:defRPr sz="200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Full Name</a:t>
            </a:r>
          </a:p>
        </p:txBody>
      </p:sp>
      <p:sp>
        <p:nvSpPr>
          <p:cNvPr id="9" name="Text Placeholder 5">
            <a:extLst>
              <a:ext uri="{FF2B5EF4-FFF2-40B4-BE49-F238E27FC236}">
                <a16:creationId xmlns:a16="http://schemas.microsoft.com/office/drawing/2014/main" id="{3452AC72-D893-4C1A-83BD-9930164D8935}"/>
              </a:ext>
            </a:extLst>
          </p:cNvPr>
          <p:cNvSpPr>
            <a:spLocks noGrp="1"/>
          </p:cNvSpPr>
          <p:nvPr>
            <p:ph type="body" sz="quarter" idx="14" hasCustomPrompt="1"/>
          </p:nvPr>
        </p:nvSpPr>
        <p:spPr>
          <a:xfrm>
            <a:off x="1917700" y="5180023"/>
            <a:ext cx="3314700" cy="205029"/>
          </a:xfrm>
          <a:ln>
            <a:noFill/>
          </a:ln>
        </p:spPr>
        <p:txBody>
          <a:bodyPr anchor="t"/>
          <a:lstStyle>
            <a:lvl1pPr marL="0" indent="0">
              <a:buNone/>
              <a:defRPr sz="16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Email</a:t>
            </a:r>
          </a:p>
        </p:txBody>
      </p:sp>
      <p:sp>
        <p:nvSpPr>
          <p:cNvPr id="10" name="Text Placeholder 5">
            <a:extLst>
              <a:ext uri="{FF2B5EF4-FFF2-40B4-BE49-F238E27FC236}">
                <a16:creationId xmlns:a16="http://schemas.microsoft.com/office/drawing/2014/main" id="{D2EEC149-F1BE-4C36-A789-5BF73B40A212}"/>
              </a:ext>
            </a:extLst>
          </p:cNvPr>
          <p:cNvSpPr>
            <a:spLocks noGrp="1"/>
          </p:cNvSpPr>
          <p:nvPr>
            <p:ph type="body" sz="quarter" idx="15" hasCustomPrompt="1"/>
          </p:nvPr>
        </p:nvSpPr>
        <p:spPr>
          <a:xfrm>
            <a:off x="1917700" y="5683561"/>
            <a:ext cx="3314700" cy="205029"/>
          </a:xfrm>
          <a:ln>
            <a:noFill/>
          </a:ln>
        </p:spPr>
        <p:txBody>
          <a:bodyPr anchor="t"/>
          <a:lstStyle>
            <a:lvl1pPr marL="0" indent="0">
              <a:buNone/>
              <a:defRPr sz="16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Phone</a:t>
            </a:r>
          </a:p>
        </p:txBody>
      </p:sp>
      <p:sp>
        <p:nvSpPr>
          <p:cNvPr id="11" name="Text Placeholder 5">
            <a:extLst>
              <a:ext uri="{FF2B5EF4-FFF2-40B4-BE49-F238E27FC236}">
                <a16:creationId xmlns:a16="http://schemas.microsoft.com/office/drawing/2014/main" id="{ECC256E6-6AE8-4950-838C-BE638FB47968}"/>
              </a:ext>
            </a:extLst>
          </p:cNvPr>
          <p:cNvSpPr>
            <a:spLocks noGrp="1"/>
          </p:cNvSpPr>
          <p:nvPr>
            <p:ph type="body" sz="quarter" idx="16" hasCustomPrompt="1"/>
          </p:nvPr>
        </p:nvSpPr>
        <p:spPr>
          <a:xfrm>
            <a:off x="1917700" y="4821910"/>
            <a:ext cx="3314700" cy="205029"/>
          </a:xfrm>
        </p:spPr>
        <p:txBody>
          <a:bodyPr anchor="t"/>
          <a:lstStyle>
            <a:lvl1pPr marL="0" indent="0">
              <a:buNone/>
              <a:defRPr sz="1000" i="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POSITION</a:t>
            </a:r>
          </a:p>
        </p:txBody>
      </p:sp>
    </p:spTree>
    <p:extLst>
      <p:ext uri="{BB962C8B-B14F-4D97-AF65-F5344CB8AC3E}">
        <p14:creationId xmlns:p14="http://schemas.microsoft.com/office/powerpoint/2010/main" val="318579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D946F0-677D-45B4-83B9-FD3BD3FFCA3C}"/>
              </a:ext>
            </a:extLst>
          </p:cNvPr>
          <p:cNvSpPr>
            <a:spLocks noGrp="1"/>
          </p:cNvSpPr>
          <p:nvPr>
            <p:ph type="body" idx="1"/>
          </p:nvPr>
        </p:nvSpPr>
        <p:spPr>
          <a:xfrm>
            <a:off x="684000" y="1825625"/>
            <a:ext cx="10800000" cy="43200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a:extLst>
              <a:ext uri="{FF2B5EF4-FFF2-40B4-BE49-F238E27FC236}">
                <a16:creationId xmlns:a16="http://schemas.microsoft.com/office/drawing/2014/main" id="{1445BE21-FA72-48F5-9A53-134902BF63DC}"/>
              </a:ext>
            </a:extLst>
          </p:cNvPr>
          <p:cNvSpPr>
            <a:spLocks noGrp="1"/>
          </p:cNvSpPr>
          <p:nvPr>
            <p:ph type="ftr" sz="quarter" idx="3"/>
          </p:nvPr>
        </p:nvSpPr>
        <p:spPr>
          <a:xfrm>
            <a:off x="288000" y="6192000"/>
            <a:ext cx="7560000" cy="360000"/>
          </a:xfrm>
          <a:prstGeom prst="rect">
            <a:avLst/>
          </a:prstGeom>
        </p:spPr>
        <p:txBody>
          <a:bodyPr vert="horz" lIns="0" tIns="0" rIns="0" bIns="0" rtlCol="0" anchor="b"/>
          <a:lstStyle>
            <a:lvl1pPr algn="l">
              <a:defRPr sz="800">
                <a:solidFill>
                  <a:schemeClr val="tx1">
                    <a:tint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a:t>Copyright © 2026 Hans Esquivel. All Rights Reserved.</a:t>
            </a:r>
            <a:endParaRPr lang="en-US" dirty="0"/>
          </a:p>
        </p:txBody>
      </p:sp>
      <p:sp>
        <p:nvSpPr>
          <p:cNvPr id="6" name="Slide Number Placeholder 5">
            <a:extLst>
              <a:ext uri="{FF2B5EF4-FFF2-40B4-BE49-F238E27FC236}">
                <a16:creationId xmlns:a16="http://schemas.microsoft.com/office/drawing/2014/main" id="{70F79B29-5421-49A7-A511-D916B66A8890}"/>
              </a:ext>
            </a:extLst>
          </p:cNvPr>
          <p:cNvSpPr>
            <a:spLocks noGrp="1"/>
          </p:cNvSpPr>
          <p:nvPr>
            <p:ph type="sldNum" sz="quarter" idx="4"/>
          </p:nvPr>
        </p:nvSpPr>
        <p:spPr>
          <a:xfrm>
            <a:off x="11575764" y="6241764"/>
            <a:ext cx="270474" cy="270474"/>
          </a:xfrm>
          <a:prstGeom prst="ellipse">
            <a:avLst/>
          </a:prstGeom>
          <a:solidFill>
            <a:schemeClr val="accent4">
              <a:lumMod val="50000"/>
            </a:schemeClr>
          </a:solidFill>
        </p:spPr>
        <p:txBody>
          <a:bodyPr vert="horz" lIns="0" tIns="0" rIns="0" bIns="0" rtlCol="0" anchor="ctr"/>
          <a:lstStyle>
            <a:lvl1pPr algn="ctr">
              <a:defRPr sz="100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4" name="Text Placeholder 3">
            <a:extLst>
              <a:ext uri="{FF2B5EF4-FFF2-40B4-BE49-F238E27FC236}">
                <a16:creationId xmlns:a16="http://schemas.microsoft.com/office/drawing/2014/main" id="{E904D603-FBCB-04C7-C8EE-A4CAEA17EF3F}"/>
              </a:ext>
            </a:extLst>
          </p:cNvPr>
          <p:cNvSpPr txBox="1">
            <a:spLocks/>
          </p:cNvSpPr>
          <p:nvPr userDrawn="1"/>
        </p:nvSpPr>
        <p:spPr>
          <a:xfrm>
            <a:off x="684213" y="939474"/>
            <a:ext cx="7559675" cy="360000"/>
          </a:xfrm>
          <a:prstGeom prst="rect">
            <a:avLst/>
          </a:prstGeom>
        </p:spPr>
        <p:txBody>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2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SUBTITLE</a:t>
            </a:r>
          </a:p>
        </p:txBody>
      </p:sp>
      <p:sp>
        <p:nvSpPr>
          <p:cNvPr id="7" name="Title 2">
            <a:extLst>
              <a:ext uri="{FF2B5EF4-FFF2-40B4-BE49-F238E27FC236}">
                <a16:creationId xmlns:a16="http://schemas.microsoft.com/office/drawing/2014/main" id="{E27F2437-643D-F13E-AB03-8C235C6607CB}"/>
              </a:ext>
            </a:extLst>
          </p:cNvPr>
          <p:cNvSpPr txBox="1">
            <a:spLocks/>
          </p:cNvSpPr>
          <p:nvPr userDrawn="1"/>
        </p:nvSpPr>
        <p:spPr>
          <a:xfrm>
            <a:off x="684000" y="342017"/>
            <a:ext cx="7560000" cy="370166"/>
          </a:xfrm>
          <a:prstGeom prst="rect">
            <a:avLst/>
          </a:prstGeom>
        </p:spPr>
        <p:txBody>
          <a:bodyPr/>
          <a:lstStyle>
            <a:lvl1pPr algn="l" defTabSz="914400" rtl="0" eaLnBrk="1" latinLnBrk="0" hangingPunct="1">
              <a:lnSpc>
                <a:spcPct val="90000"/>
              </a:lnSpc>
              <a:spcBef>
                <a:spcPct val="0"/>
              </a:spcBef>
              <a:buNone/>
              <a:defRPr sz="3200" b="1" kern="1200" cap="none" spc="-150" baseline="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27892528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50" r:id="rId12"/>
    <p:sldLayoutId id="2147483669" r:id="rId13"/>
  </p:sldLayoutIdLst>
  <p:hf hdr="0" dt="0"/>
  <p:txStyles>
    <p:titleStyle>
      <a:lvl1pPr algn="l" defTabSz="914400" rtl="0" eaLnBrk="1" latinLnBrk="0" hangingPunct="1">
        <a:lnSpc>
          <a:spcPct val="90000"/>
        </a:lnSpc>
        <a:spcBef>
          <a:spcPct val="0"/>
        </a:spcBef>
        <a:buNone/>
        <a:defRPr sz="3200" b="1" kern="1200" cap="none" spc="-150" baseline="0">
          <a:solidFill>
            <a:schemeClr val="accent2"/>
          </a:solidFill>
          <a:latin typeface="Calibri" panose="020F0502020204030204" pitchFamily="34" charset="0"/>
          <a:ea typeface="Calibri" panose="020F0502020204030204" pitchFamily="34" charset="0"/>
          <a:cs typeface="Calibri" panose="020F0502020204030204" pitchFamily="34" charset="0"/>
        </a:defRPr>
      </a:lvl1pPr>
    </p:titleStyle>
    <p:body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5.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4" name="Picture Placeholder 13" descr="Doctor pointing on a large display">
            <a:extLst>
              <a:ext uri="{FF2B5EF4-FFF2-40B4-BE49-F238E27FC236}">
                <a16:creationId xmlns:a16="http://schemas.microsoft.com/office/drawing/2014/main" id="{8F02F647-7DBC-4618-AFF3-8CED69C5CDEF}"/>
              </a:ext>
            </a:extLst>
          </p:cNvPr>
          <p:cNvPicPr>
            <a:picLocks noGrp="1" noChangeAspect="1"/>
          </p:cNvPicPr>
          <p:nvPr>
            <p:ph type="pic" sz="quarter" idx="12"/>
          </p:nvPr>
        </p:nvPicPr>
        <p:blipFill>
          <a:blip r:embed="rId2"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a:xfrm>
            <a:off x="0" y="0"/>
            <a:ext cx="12192000" cy="6858000"/>
          </a:xfrm>
        </p:spPr>
      </p:pic>
      <p:sp>
        <p:nvSpPr>
          <p:cNvPr id="3" name="Title 2">
            <a:extLst>
              <a:ext uri="{FF2B5EF4-FFF2-40B4-BE49-F238E27FC236}">
                <a16:creationId xmlns:a16="http://schemas.microsoft.com/office/drawing/2014/main" id="{B8D8E648-93B0-47FF-A306-492EFF7FC499}"/>
              </a:ext>
            </a:extLst>
          </p:cNvPr>
          <p:cNvSpPr>
            <a:spLocks noGrp="1"/>
          </p:cNvSpPr>
          <p:nvPr>
            <p:ph type="ctrTitle"/>
          </p:nvPr>
        </p:nvSpPr>
        <p:spPr>
          <a:solidFill>
            <a:schemeClr val="accent4">
              <a:lumMod val="75000"/>
              <a:alpha val="70000"/>
            </a:schemeClr>
          </a:solidFill>
        </p:spPr>
        <p:txBody>
          <a:bodyPr/>
          <a:lstStyle/>
          <a:p>
            <a:pPr>
              <a:lnSpc>
                <a:spcPct val="110000"/>
              </a:lnSpc>
            </a:pPr>
            <a:r>
              <a:rPr lang="en-US" sz="4400" cap="none" dirty="0"/>
              <a:t>Enabling Value-Based Care</a:t>
            </a:r>
            <a:br>
              <a:rPr lang="en-US" sz="3200" dirty="0"/>
            </a:br>
            <a:r>
              <a:rPr lang="en-US" sz="3200" cap="none" dirty="0"/>
              <a:t>Microsoft Fabric &amp; Power BI</a:t>
            </a:r>
          </a:p>
        </p:txBody>
      </p:sp>
      <p:sp>
        <p:nvSpPr>
          <p:cNvPr id="5" name="object 7" descr="Beige rectangle">
            <a:extLst>
              <a:ext uri="{FF2B5EF4-FFF2-40B4-BE49-F238E27FC236}">
                <a16:creationId xmlns:a16="http://schemas.microsoft.com/office/drawing/2014/main" id="{C85C272F-FCB2-478D-9E03-EC734D1AB6C0}"/>
              </a:ext>
            </a:extLst>
          </p:cNvPr>
          <p:cNvSpPr/>
          <p:nvPr/>
        </p:nvSpPr>
        <p:spPr bwMode="white">
          <a:xfrm flipV="1">
            <a:off x="3687084" y="3485455"/>
            <a:ext cx="6451998"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dirty="0">
              <a:solidFill>
                <a:schemeClr val="bg1">
                  <a:lumMod val="85000"/>
                </a:schemeClr>
              </a:solidFill>
            </a:endParaRPr>
          </a:p>
        </p:txBody>
      </p:sp>
      <p:sp>
        <p:nvSpPr>
          <p:cNvPr id="4" name="TextBox 3">
            <a:extLst>
              <a:ext uri="{FF2B5EF4-FFF2-40B4-BE49-F238E27FC236}">
                <a16:creationId xmlns:a16="http://schemas.microsoft.com/office/drawing/2014/main" id="{13CDA69E-4511-99B7-7C90-E733C7D29876}"/>
              </a:ext>
            </a:extLst>
          </p:cNvPr>
          <p:cNvSpPr txBox="1"/>
          <p:nvPr/>
        </p:nvSpPr>
        <p:spPr>
          <a:xfrm>
            <a:off x="3516755" y="4141693"/>
            <a:ext cx="6613363" cy="646331"/>
          </a:xfrm>
          <a:prstGeom prst="rect">
            <a:avLst/>
          </a:prstGeom>
          <a:noFill/>
        </p:spPr>
        <p:txBody>
          <a:bodyPr wrap="square" rtlCol="0">
            <a:spAutoFit/>
          </a:bodyPr>
          <a:lstStyle/>
          <a:p>
            <a:r>
              <a:rPr lang="en-US" dirty="0">
                <a:solidFill>
                  <a:schemeClr val="bg1">
                    <a:lumMod val="65000"/>
                  </a:schemeClr>
                </a:solidFill>
              </a:rPr>
              <a:t>Streamline Healthcare Quality Measurement with dQMs, CQL &amp; FHIR – Automate, Standardize, and Improve Accuracy!</a:t>
            </a:r>
          </a:p>
        </p:txBody>
      </p:sp>
      <p:sp>
        <p:nvSpPr>
          <p:cNvPr id="11" name="TextBox 10">
            <a:extLst>
              <a:ext uri="{FF2B5EF4-FFF2-40B4-BE49-F238E27FC236}">
                <a16:creationId xmlns:a16="http://schemas.microsoft.com/office/drawing/2014/main" id="{6718324F-3334-5EEF-043B-B520AD2F0F2C}"/>
              </a:ext>
            </a:extLst>
          </p:cNvPr>
          <p:cNvSpPr txBox="1"/>
          <p:nvPr/>
        </p:nvSpPr>
        <p:spPr>
          <a:xfrm>
            <a:off x="9298242" y="5426839"/>
            <a:ext cx="2716305" cy="523220"/>
          </a:xfrm>
          <a:prstGeom prst="rect">
            <a:avLst/>
          </a:prstGeom>
          <a:noFill/>
        </p:spPr>
        <p:txBody>
          <a:bodyPr wrap="square" rtlCol="0">
            <a:spAutoFit/>
          </a:bodyPr>
          <a:lstStyle/>
          <a:p>
            <a:r>
              <a:rPr lang="en-US" sz="1400" b="1" dirty="0">
                <a:solidFill>
                  <a:srgbClr val="FFFFFF"/>
                </a:solidFill>
                <a:latin typeface="Calibri" panose="020F0502020204030204"/>
              </a:rPr>
              <a:t>Hans Esquivel</a:t>
            </a:r>
          </a:p>
          <a:p>
            <a:r>
              <a:rPr lang="en-US" sz="1400" i="1">
                <a:solidFill>
                  <a:srgbClr val="FFFFFF">
                    <a:lumMod val="75000"/>
                  </a:srgbClr>
                </a:solidFill>
                <a:latin typeface="Calibri" panose="020F0502020204030204"/>
              </a:rPr>
              <a:t>Consultant| </a:t>
            </a:r>
            <a:r>
              <a:rPr lang="en-US" sz="1400" i="1" dirty="0">
                <a:solidFill>
                  <a:srgbClr val="FFFFFF">
                    <a:lumMod val="75000"/>
                  </a:srgbClr>
                </a:solidFill>
                <a:latin typeface="Calibri" panose="020F0502020204030204"/>
              </a:rPr>
              <a:t>Analytics &amp; AI</a:t>
            </a:r>
          </a:p>
        </p:txBody>
      </p:sp>
      <p:pic>
        <p:nvPicPr>
          <p:cNvPr id="15" name="Picture 14">
            <a:extLst>
              <a:ext uri="{FF2B5EF4-FFF2-40B4-BE49-F238E27FC236}">
                <a16:creationId xmlns:a16="http://schemas.microsoft.com/office/drawing/2014/main" id="{41BC061E-5943-D485-733B-FAA130901D0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976261" y="-83942"/>
            <a:ext cx="3323315" cy="1222460"/>
          </a:xfrm>
          <a:prstGeom prst="rect">
            <a:avLst/>
          </a:prstGeom>
        </p:spPr>
      </p:pic>
      <p:grpSp>
        <p:nvGrpSpPr>
          <p:cNvPr id="19" name="Group 18">
            <a:extLst>
              <a:ext uri="{FF2B5EF4-FFF2-40B4-BE49-F238E27FC236}">
                <a16:creationId xmlns:a16="http://schemas.microsoft.com/office/drawing/2014/main" id="{4ADB8F5D-7885-480E-42C4-FB6D56B61D2B}"/>
              </a:ext>
            </a:extLst>
          </p:cNvPr>
          <p:cNvGrpSpPr/>
          <p:nvPr/>
        </p:nvGrpSpPr>
        <p:grpSpPr>
          <a:xfrm>
            <a:off x="8092129" y="3608907"/>
            <a:ext cx="2128193" cy="483349"/>
            <a:chOff x="9413916" y="1601203"/>
            <a:chExt cx="2128193" cy="483349"/>
          </a:xfrm>
        </p:grpSpPr>
        <p:pic>
          <p:nvPicPr>
            <p:cNvPr id="12" name="Picture 11" descr="A rainbow colored logo on a black background&#10;&#10;Description automatically generated">
              <a:extLst>
                <a:ext uri="{FF2B5EF4-FFF2-40B4-BE49-F238E27FC236}">
                  <a16:creationId xmlns:a16="http://schemas.microsoft.com/office/drawing/2014/main" id="{924E7C69-B968-4724-B900-235228919326}"/>
                </a:ext>
              </a:extLst>
            </p:cNvPr>
            <p:cNvPicPr>
              <a:picLocks noChangeAspect="1"/>
            </p:cNvPicPr>
            <p:nvPr/>
          </p:nvPicPr>
          <p:blipFill>
            <a:blip r:embed="rId4"/>
            <a:stretch>
              <a:fillRect/>
            </a:stretch>
          </p:blipFill>
          <p:spPr>
            <a:xfrm>
              <a:off x="9933694" y="1627311"/>
              <a:ext cx="431132" cy="431132"/>
            </a:xfrm>
            <a:prstGeom prst="rect">
              <a:avLst/>
            </a:prstGeom>
          </p:spPr>
        </p:pic>
        <p:pic>
          <p:nvPicPr>
            <p:cNvPr id="13" name="Picture 12" descr="A yellow and black sign&#10;&#10;Description automatically generated">
              <a:extLst>
                <a:ext uri="{FF2B5EF4-FFF2-40B4-BE49-F238E27FC236}">
                  <a16:creationId xmlns:a16="http://schemas.microsoft.com/office/drawing/2014/main" id="{630873DC-4BEE-2225-386B-8E7634D8B6A0}"/>
                </a:ext>
              </a:extLst>
            </p:cNvPr>
            <p:cNvPicPr>
              <a:picLocks noChangeAspect="1"/>
            </p:cNvPicPr>
            <p:nvPr/>
          </p:nvPicPr>
          <p:blipFill>
            <a:blip r:embed="rId5"/>
            <a:stretch>
              <a:fillRect/>
            </a:stretch>
          </p:blipFill>
          <p:spPr>
            <a:xfrm flipH="1">
              <a:off x="10898153" y="1673839"/>
              <a:ext cx="643956" cy="338077"/>
            </a:xfrm>
            <a:prstGeom prst="rect">
              <a:avLst/>
            </a:prstGeom>
          </p:spPr>
        </p:pic>
        <p:pic>
          <p:nvPicPr>
            <p:cNvPr id="16" name="Picture 15">
              <a:extLst>
                <a:ext uri="{FF2B5EF4-FFF2-40B4-BE49-F238E27FC236}">
                  <a16:creationId xmlns:a16="http://schemas.microsoft.com/office/drawing/2014/main" id="{9632DACA-A144-D758-CA36-EF7ED73FD5F0}"/>
                </a:ext>
              </a:extLst>
            </p:cNvPr>
            <p:cNvPicPr>
              <a:picLocks noChangeAspect="1"/>
            </p:cNvPicPr>
            <p:nvPr/>
          </p:nvPicPr>
          <p:blipFill>
            <a:blip r:embed="rId6">
              <a:extLst>
                <a:ext uri="{28A0092B-C50C-407E-A947-70E740481C1C}">
                  <a14:useLocalDpi xmlns:a14="http://schemas.microsoft.com/office/drawing/2010/main" val="0"/>
                </a:ext>
              </a:extLst>
            </a:blip>
            <a:srcRect b="-2728"/>
            <a:stretch/>
          </p:blipFill>
          <p:spPr>
            <a:xfrm>
              <a:off x="9413916" y="1601203"/>
              <a:ext cx="431132" cy="483349"/>
            </a:xfrm>
            <a:prstGeom prst="rect">
              <a:avLst/>
            </a:prstGeom>
          </p:spPr>
        </p:pic>
        <p:pic>
          <p:nvPicPr>
            <p:cNvPr id="18" name="Picture 17">
              <a:extLst>
                <a:ext uri="{FF2B5EF4-FFF2-40B4-BE49-F238E27FC236}">
                  <a16:creationId xmlns:a16="http://schemas.microsoft.com/office/drawing/2014/main" id="{F3A8FCCB-40BB-0720-38D3-E76F9930C5E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429747" y="1647987"/>
              <a:ext cx="450257" cy="389781"/>
            </a:xfrm>
            <a:prstGeom prst="rect">
              <a:avLst/>
            </a:prstGeom>
          </p:spPr>
        </p:pic>
      </p:grpSp>
    </p:spTree>
    <p:extLst>
      <p:ext uri="{BB962C8B-B14F-4D97-AF65-F5344CB8AC3E}">
        <p14:creationId xmlns:p14="http://schemas.microsoft.com/office/powerpoint/2010/main" val="850593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8" name="Picture Placeholder 27" descr="Woman walking through a door">
            <a:extLst>
              <a:ext uri="{FF2B5EF4-FFF2-40B4-BE49-F238E27FC236}">
                <a16:creationId xmlns:a16="http://schemas.microsoft.com/office/drawing/2014/main" id="{86D7D4AC-BE7B-45B9-AF4A-E2AF1B6C796D}"/>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a:stretch/>
        </p:blipFill>
        <p:spPr>
          <a:xfrm>
            <a:off x="0" y="0"/>
            <a:ext cx="12012000" cy="6858000"/>
          </a:xfrm>
        </p:spPr>
      </p:pic>
      <p:sp>
        <p:nvSpPr>
          <p:cNvPr id="15" name="Rectangle 14">
            <a:extLst>
              <a:ext uri="{FF2B5EF4-FFF2-40B4-BE49-F238E27FC236}">
                <a16:creationId xmlns:a16="http://schemas.microsoft.com/office/drawing/2014/main" id="{DD509E5E-F68C-4F2B-8EC7-4325958603E7}"/>
              </a:ext>
              <a:ext uri="{C183D7F6-B498-43B3-948B-1728B52AA6E4}">
                <adec:decorative xmlns:adec="http://schemas.microsoft.com/office/drawing/2017/decorative" val="1"/>
              </a:ext>
            </a:extLst>
          </p:cNvPr>
          <p:cNvSpPr/>
          <p:nvPr/>
        </p:nvSpPr>
        <p:spPr>
          <a:xfrm>
            <a:off x="1569877" y="0"/>
            <a:ext cx="6058185" cy="6858000"/>
          </a:xfrm>
          <a:prstGeom prst="rect">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9AF7E39F-041F-4A45-A1CF-F8C269887D5A}"/>
              </a:ext>
            </a:extLst>
          </p:cNvPr>
          <p:cNvSpPr>
            <a:spLocks noGrp="1"/>
          </p:cNvSpPr>
          <p:nvPr>
            <p:ph type="body" sz="quarter" idx="13"/>
          </p:nvPr>
        </p:nvSpPr>
        <p:spPr>
          <a:xfrm>
            <a:off x="1147343" y="2731934"/>
            <a:ext cx="6903253" cy="3172156"/>
          </a:xfrm>
          <a:gradFill>
            <a:gsLst>
              <a:gs pos="0">
                <a:schemeClr val="tx2"/>
              </a:gs>
              <a:gs pos="100000">
                <a:schemeClr val="accent2"/>
              </a:gs>
            </a:gsLst>
            <a:lin ang="14400000" scaled="0"/>
          </a:gradFill>
        </p:spPr>
        <p:txBody>
          <a:bodyPr/>
          <a:lstStyle/>
          <a:p>
            <a:r>
              <a:rPr lang="en-US" dirty="0"/>
              <a:t>Our mission is to transform healthcare quality measurement with dQMs, CQL, and FHIR—automating accuracy, standardizing data, and ensuring seamless interoperability. </a:t>
            </a:r>
          </a:p>
        </p:txBody>
      </p:sp>
      <p:sp>
        <p:nvSpPr>
          <p:cNvPr id="3" name="Title 2">
            <a:extLst>
              <a:ext uri="{FF2B5EF4-FFF2-40B4-BE49-F238E27FC236}">
                <a16:creationId xmlns:a16="http://schemas.microsoft.com/office/drawing/2014/main" id="{E9BE4A06-2673-41EF-AF84-96B0EDEC0F01}"/>
              </a:ext>
            </a:extLst>
          </p:cNvPr>
          <p:cNvSpPr>
            <a:spLocks noGrp="1"/>
          </p:cNvSpPr>
          <p:nvPr>
            <p:ph type="title"/>
          </p:nvPr>
        </p:nvSpPr>
        <p:spPr>
          <a:xfrm>
            <a:off x="2870207" y="3333056"/>
            <a:ext cx="4585966" cy="804898"/>
          </a:xfrm>
        </p:spPr>
        <p:txBody>
          <a:bodyPr/>
          <a:lstStyle/>
          <a:p>
            <a:r>
              <a:rPr lang="en-US" dirty="0"/>
              <a:t>Innovative Approach</a:t>
            </a:r>
          </a:p>
        </p:txBody>
      </p:sp>
      <p:sp>
        <p:nvSpPr>
          <p:cNvPr id="9" name="object 7" descr="Beige rectangle">
            <a:extLst>
              <a:ext uri="{FF2B5EF4-FFF2-40B4-BE49-F238E27FC236}">
                <a16:creationId xmlns:a16="http://schemas.microsoft.com/office/drawing/2014/main" id="{400AB11A-4D5E-4CDE-BB60-C8578F59C3E0}"/>
              </a:ext>
            </a:extLst>
          </p:cNvPr>
          <p:cNvSpPr/>
          <p:nvPr/>
        </p:nvSpPr>
        <p:spPr bwMode="white">
          <a:xfrm flipV="1">
            <a:off x="1713143" y="4286966"/>
            <a:ext cx="5914917"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lang="en-US" dirty="0"/>
          </a:p>
        </p:txBody>
      </p:sp>
      <p:grpSp>
        <p:nvGrpSpPr>
          <p:cNvPr id="36" name="Group 35" descr="Icon Lightbulb">
            <a:extLst>
              <a:ext uri="{FF2B5EF4-FFF2-40B4-BE49-F238E27FC236}">
                <a16:creationId xmlns:a16="http://schemas.microsoft.com/office/drawing/2014/main" id="{840CA54E-FBB9-4848-A45D-E086AA4A5012}"/>
              </a:ext>
            </a:extLst>
          </p:cNvPr>
          <p:cNvGrpSpPr>
            <a:grpSpLocks noChangeAspect="1"/>
          </p:cNvGrpSpPr>
          <p:nvPr/>
        </p:nvGrpSpPr>
        <p:grpSpPr>
          <a:xfrm>
            <a:off x="1985345" y="3363146"/>
            <a:ext cx="362015" cy="584795"/>
            <a:chOff x="1684741" y="3186732"/>
            <a:chExt cx="530027" cy="856197"/>
          </a:xfrm>
          <a:solidFill>
            <a:schemeClr val="accent2">
              <a:lumMod val="20000"/>
              <a:lumOff val="80000"/>
            </a:schemeClr>
          </a:solidFill>
        </p:grpSpPr>
        <p:sp>
          <p:nvSpPr>
            <p:cNvPr id="32" name="Freeform: Shape 31">
              <a:extLst>
                <a:ext uri="{FF2B5EF4-FFF2-40B4-BE49-F238E27FC236}">
                  <a16:creationId xmlns:a16="http://schemas.microsoft.com/office/drawing/2014/main" id="{B8ABB65B-B8A5-4C0E-BE4C-E88A7BB3E8A2}"/>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grp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D71DD07A-CE80-41D5-AEEB-65192AD34639}"/>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grp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0522D638-DE3D-438D-8C73-954C32D8CB63}"/>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grp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1AB190E-B14D-440E-9910-B22D8C998B54}"/>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grpFill/>
            <a:ln w="10120" cap="flat">
              <a:noFill/>
              <a:prstDash val="solid"/>
              <a:miter/>
            </a:ln>
          </p:spPr>
          <p:txBody>
            <a:bodyPr rtlCol="0" anchor="ctr"/>
            <a:lstStyle/>
            <a:p>
              <a:endParaRPr lang="en-US" dirty="0"/>
            </a:p>
          </p:txBody>
        </p:sp>
      </p:grpSp>
      <p:sp>
        <p:nvSpPr>
          <p:cNvPr id="48" name="Rectangle 47">
            <a:extLst>
              <a:ext uri="{FF2B5EF4-FFF2-40B4-BE49-F238E27FC236}">
                <a16:creationId xmlns:a16="http://schemas.microsoft.com/office/drawing/2014/main" id="{C3FC51DE-D10A-4DE8-A7E3-22FA2E4FC194}"/>
              </a:ext>
              <a:ext uri="{C183D7F6-B498-43B3-948B-1728B52AA6E4}">
                <adec:decorative xmlns:adec="http://schemas.microsoft.com/office/drawing/2017/decorative" val="1"/>
              </a:ext>
            </a:extLst>
          </p:cNvPr>
          <p:cNvSpPr/>
          <p:nvPr/>
        </p:nvSpPr>
        <p:spPr>
          <a:xfrm>
            <a:off x="1569877" y="5904087"/>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Slide Number Placeholder 51">
            <a:extLst>
              <a:ext uri="{FF2B5EF4-FFF2-40B4-BE49-F238E27FC236}">
                <a16:creationId xmlns:a16="http://schemas.microsoft.com/office/drawing/2014/main" id="{947A81F6-261F-44F4-B660-7BD323AE2991}"/>
              </a:ext>
            </a:extLst>
          </p:cNvPr>
          <p:cNvSpPr>
            <a:spLocks noGrp="1"/>
          </p:cNvSpPr>
          <p:nvPr>
            <p:ph type="sldNum" sz="quarter" idx="11"/>
          </p:nvPr>
        </p:nvSpPr>
        <p:spPr/>
        <p:txBody>
          <a:bodyPr/>
          <a:lstStyle/>
          <a:p>
            <a:fld id="{EECC7194-A4D0-457B-9D3E-53681723AFF7}" type="slidenum">
              <a:rPr lang="en-US" smtClean="0"/>
              <a:pPr/>
              <a:t>2</a:t>
            </a:fld>
            <a:endParaRPr lang="en-US" dirty="0"/>
          </a:p>
        </p:txBody>
      </p:sp>
      <p:grpSp>
        <p:nvGrpSpPr>
          <p:cNvPr id="14" name="Group 13">
            <a:extLst>
              <a:ext uri="{FF2B5EF4-FFF2-40B4-BE49-F238E27FC236}">
                <a16:creationId xmlns:a16="http://schemas.microsoft.com/office/drawing/2014/main" id="{8CDC0198-E919-4071-9C4B-5B3D19A46785}"/>
              </a:ext>
              <a:ext uri="{C183D7F6-B498-43B3-948B-1728B52AA6E4}">
                <adec:decorative xmlns:adec="http://schemas.microsoft.com/office/drawing/2017/decorative" val="1"/>
              </a:ext>
            </a:extLst>
          </p:cNvPr>
          <p:cNvGrpSpPr>
            <a:grpSpLocks noChangeAspect="1"/>
          </p:cNvGrpSpPr>
          <p:nvPr/>
        </p:nvGrpSpPr>
        <p:grpSpPr>
          <a:xfrm>
            <a:off x="1713143" y="3198674"/>
            <a:ext cx="906419" cy="906419"/>
            <a:chOff x="5482999" y="1607028"/>
            <a:chExt cx="1200866" cy="1200866"/>
          </a:xfrm>
        </p:grpSpPr>
        <p:sp>
          <p:nvSpPr>
            <p:cNvPr id="16" name="Rectangle 15">
              <a:extLst>
                <a:ext uri="{FF2B5EF4-FFF2-40B4-BE49-F238E27FC236}">
                  <a16:creationId xmlns:a16="http://schemas.microsoft.com/office/drawing/2014/main" id="{667DDF34-4085-4945-A320-585AC8EBAAF2}"/>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521D40-9109-4214-B458-FAB53B1DA80D}"/>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87BD1B77-1BA5-7263-79E0-777556EE0DE5}"/>
              </a:ext>
            </a:extLst>
          </p:cNvPr>
          <p:cNvSpPr txBox="1"/>
          <p:nvPr/>
        </p:nvSpPr>
        <p:spPr>
          <a:xfrm>
            <a:off x="4959514" y="5210713"/>
            <a:ext cx="3647929" cy="1031051"/>
          </a:xfrm>
          <a:prstGeom prst="rect">
            <a:avLst/>
          </a:prstGeom>
          <a:solidFill>
            <a:schemeClr val="tx2">
              <a:lumMod val="20000"/>
              <a:lumOff val="80000"/>
              <a:alpha val="90000"/>
            </a:schemeClr>
          </a:solidFill>
          <a:effectLst>
            <a:outerShdw blurRad="50800" dist="127000" dir="2700000" algn="tl" rotWithShape="0">
              <a:prstClr val="black">
                <a:alpha val="40000"/>
              </a:prstClr>
            </a:outerShdw>
          </a:effectLst>
        </p:spPr>
        <p:txBody>
          <a:bodyPr wrap="square" rtlCol="0">
            <a:spAutoFit/>
          </a:bodyPr>
          <a:lstStyle/>
          <a:p>
            <a:pPr marL="285750" indent="-285750">
              <a:spcBef>
                <a:spcPts val="300"/>
              </a:spcBef>
              <a:buFont typeface="Wingdings" panose="05000000000000000000" pitchFamily="2" charset="2"/>
              <a:buChar char="ü"/>
            </a:pPr>
            <a:r>
              <a:rPr lang="en-US" sz="1400" dirty="0">
                <a:solidFill>
                  <a:schemeClr val="tx1">
                    <a:lumMod val="65000"/>
                    <a:lumOff val="35000"/>
                  </a:schemeClr>
                </a:solidFill>
              </a:rPr>
              <a:t>Reduce manual effort</a:t>
            </a:r>
          </a:p>
          <a:p>
            <a:pPr marL="285750" indent="-285750">
              <a:spcBef>
                <a:spcPts val="300"/>
              </a:spcBef>
              <a:buFont typeface="Wingdings" panose="05000000000000000000" pitchFamily="2" charset="2"/>
              <a:buChar char="ü"/>
            </a:pPr>
            <a:r>
              <a:rPr lang="en-US" sz="1400" dirty="0">
                <a:solidFill>
                  <a:schemeClr val="tx1">
                    <a:lumMod val="65000"/>
                    <a:lumOff val="35000"/>
                  </a:schemeClr>
                </a:solidFill>
              </a:rPr>
              <a:t>Enhance reporting precision</a:t>
            </a:r>
          </a:p>
          <a:p>
            <a:pPr marL="285750" indent="-285750">
              <a:spcBef>
                <a:spcPts val="300"/>
              </a:spcBef>
              <a:buFont typeface="Wingdings" panose="05000000000000000000" pitchFamily="2" charset="2"/>
              <a:buChar char="ü"/>
            </a:pPr>
            <a:r>
              <a:rPr lang="en-US" sz="1400" dirty="0">
                <a:solidFill>
                  <a:schemeClr val="tx1">
                    <a:lumMod val="65000"/>
                    <a:lumOff val="35000"/>
                  </a:schemeClr>
                </a:solidFill>
              </a:rPr>
              <a:t>Drive better patient outcomes with a smarter, data-driven approach</a:t>
            </a:r>
          </a:p>
        </p:txBody>
      </p:sp>
      <p:sp>
        <p:nvSpPr>
          <p:cNvPr id="2" name="Footer Placeholder 1">
            <a:extLst>
              <a:ext uri="{FF2B5EF4-FFF2-40B4-BE49-F238E27FC236}">
                <a16:creationId xmlns:a16="http://schemas.microsoft.com/office/drawing/2014/main" id="{72B27199-EEAC-BB1D-BF1F-D96FC3E56CF2}"/>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3043203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8DCE04D-CF00-2B70-8790-4AE93E81E1EE}"/>
              </a:ext>
            </a:extLst>
          </p:cNvPr>
          <p:cNvSpPr>
            <a:spLocks noGrp="1"/>
          </p:cNvSpPr>
          <p:nvPr>
            <p:ph type="body" sz="quarter" idx="12"/>
          </p:nvPr>
        </p:nvSpPr>
        <p:spPr>
          <a:xfrm>
            <a:off x="684001" y="2359488"/>
            <a:ext cx="10893350" cy="3882276"/>
          </a:xfrm>
        </p:spPr>
        <p:txBody>
          <a:bodyPr/>
          <a:lstStyle/>
          <a:p>
            <a:pPr marL="457200" indent="-457200">
              <a:buFont typeface="+mj-lt"/>
              <a:buAutoNum type="arabicPeriod"/>
            </a:pPr>
            <a:r>
              <a:rPr lang="en-US" sz="1400" b="1" dirty="0"/>
              <a:t>eCQMs and CQL</a:t>
            </a:r>
          </a:p>
          <a:p>
            <a:pPr marL="804863" lvl="1" indent="-347663">
              <a:buFont typeface="Arial" panose="020B0604020202020204" pitchFamily="34" charset="0"/>
              <a:buChar char="•"/>
            </a:pPr>
            <a:r>
              <a:rPr lang="en-US" dirty="0"/>
              <a:t>eCQMs remain a required reporting component for hospitals (under PI) and providers (under MIPS).</a:t>
            </a:r>
          </a:p>
          <a:p>
            <a:pPr marL="804863" lvl="1" indent="-347663">
              <a:buFont typeface="Arial" panose="020B0604020202020204" pitchFamily="34" charset="0"/>
              <a:buChar char="•"/>
            </a:pPr>
            <a:r>
              <a:rPr lang="en-US" dirty="0"/>
              <a:t>CMS requires eCQMs to be written using CQL to standardize measure logic.</a:t>
            </a:r>
          </a:p>
          <a:p>
            <a:pPr marL="457200" indent="-457200">
              <a:buFont typeface="+mj-lt"/>
              <a:buAutoNum type="arabicPeriod"/>
            </a:pPr>
            <a:r>
              <a:rPr lang="en-US" sz="1400" b="1" dirty="0"/>
              <a:t>Data Quality Measures (DQMs)</a:t>
            </a:r>
          </a:p>
          <a:p>
            <a:pPr marL="804863" lvl="1" indent="-347663">
              <a:buFont typeface="Arial" panose="020B0604020202020204" pitchFamily="34" charset="0"/>
              <a:buChar char="•"/>
            </a:pPr>
            <a:r>
              <a:rPr lang="en-US" dirty="0"/>
              <a:t>CMS has introduced DQMs as a potential future evolution of quality measures, aiming to assess data quality more explicitly.</a:t>
            </a:r>
          </a:p>
          <a:p>
            <a:pPr marL="804863" lvl="1" indent="-347663">
              <a:buFont typeface="Arial" panose="020B0604020202020204" pitchFamily="34" charset="0"/>
              <a:buChar char="•"/>
            </a:pPr>
            <a:r>
              <a:rPr lang="en-US" dirty="0"/>
              <a:t>While not a mandatory part of PI/MIPS today, CMS is exploring DQMs in pilot programs.</a:t>
            </a:r>
          </a:p>
          <a:p>
            <a:pPr marL="457200" indent="-457200">
              <a:buFont typeface="+mj-lt"/>
              <a:buAutoNum type="arabicPeriod"/>
            </a:pPr>
            <a:r>
              <a:rPr lang="en-US" sz="1400" b="1" dirty="0"/>
              <a:t>Promoting Interoperability (PI) Requirements</a:t>
            </a:r>
          </a:p>
          <a:p>
            <a:pPr marL="804863" lvl="1" indent="-347663">
              <a:buFont typeface="Arial" panose="020B0604020202020204" pitchFamily="34" charset="0"/>
              <a:buChar char="•"/>
            </a:pPr>
            <a:r>
              <a:rPr lang="en-US" dirty="0"/>
              <a:t>Hospitals and providers must still submit data for CMS PI programs, including eCQMs.</a:t>
            </a:r>
          </a:p>
          <a:p>
            <a:pPr marL="804863" lvl="1" indent="-347663">
              <a:buFont typeface="Arial" panose="020B0604020202020204" pitchFamily="34" charset="0"/>
              <a:buChar char="•"/>
            </a:pPr>
            <a:r>
              <a:rPr lang="en-US" dirty="0"/>
              <a:t>For 2024 and beyond, CMS continues to emphasize certified electronic health record technology (CEHRT) and adherence to FHIR-based interoperability standards.</a:t>
            </a:r>
          </a:p>
        </p:txBody>
      </p:sp>
      <p:sp>
        <p:nvSpPr>
          <p:cNvPr id="4" name="Slide Number Placeholder 3">
            <a:extLst>
              <a:ext uri="{FF2B5EF4-FFF2-40B4-BE49-F238E27FC236}">
                <a16:creationId xmlns:a16="http://schemas.microsoft.com/office/drawing/2014/main" id="{80A608ED-99C6-B409-05E2-7DBFE373CB5D}"/>
              </a:ext>
            </a:extLst>
          </p:cNvPr>
          <p:cNvSpPr>
            <a:spLocks noGrp="1"/>
          </p:cNvSpPr>
          <p:nvPr>
            <p:ph type="sldNum" sz="quarter" idx="11"/>
          </p:nvPr>
        </p:nvSpPr>
        <p:spPr/>
        <p:txBody>
          <a:bodyPr/>
          <a:lstStyle/>
          <a:p>
            <a:fld id="{EECC7194-A4D0-457B-9D3E-53681723AFF7}" type="slidenum">
              <a:rPr lang="en-US" smtClean="0"/>
              <a:pPr/>
              <a:t>3</a:t>
            </a:fld>
            <a:endParaRPr lang="en-US" dirty="0"/>
          </a:p>
        </p:txBody>
      </p:sp>
      <p:sp>
        <p:nvSpPr>
          <p:cNvPr id="6" name="Title 5">
            <a:extLst>
              <a:ext uri="{FF2B5EF4-FFF2-40B4-BE49-F238E27FC236}">
                <a16:creationId xmlns:a16="http://schemas.microsoft.com/office/drawing/2014/main" id="{7AD12049-C35E-50F6-D2AF-E55966B429DD}"/>
              </a:ext>
            </a:extLst>
          </p:cNvPr>
          <p:cNvSpPr>
            <a:spLocks noGrp="1"/>
          </p:cNvSpPr>
          <p:nvPr>
            <p:ph type="title"/>
          </p:nvPr>
        </p:nvSpPr>
        <p:spPr>
          <a:xfrm>
            <a:off x="684000" y="338328"/>
            <a:ext cx="11162238" cy="556194"/>
          </a:xfrm>
        </p:spPr>
        <p:txBody>
          <a:bodyPr/>
          <a:lstStyle/>
          <a:p>
            <a:r>
              <a:rPr lang="en-US" cap="none" dirty="0"/>
              <a:t>Overview of dQMs and CQL, and the Role of FHIR </a:t>
            </a:r>
          </a:p>
        </p:txBody>
      </p:sp>
      <p:sp>
        <p:nvSpPr>
          <p:cNvPr id="3" name="TextBox 2">
            <a:extLst>
              <a:ext uri="{FF2B5EF4-FFF2-40B4-BE49-F238E27FC236}">
                <a16:creationId xmlns:a16="http://schemas.microsoft.com/office/drawing/2014/main" id="{5A87A465-84B6-231F-D4B3-05978AB8C0DB}"/>
              </a:ext>
            </a:extLst>
          </p:cNvPr>
          <p:cNvSpPr txBox="1"/>
          <p:nvPr/>
        </p:nvSpPr>
        <p:spPr>
          <a:xfrm>
            <a:off x="685800" y="1280160"/>
            <a:ext cx="10891550" cy="954107"/>
          </a:xfrm>
          <a:prstGeom prst="rect">
            <a:avLst/>
          </a:prstGeom>
          <a:noFill/>
        </p:spPr>
        <p:txBody>
          <a:bodyPr wrap="square">
            <a:spAutoFit/>
          </a:bodyPr>
          <a:lstStyle/>
          <a:p>
            <a:r>
              <a:rPr lang="en-US"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Meaningful Use (MU) program has evolved into the Promoting Interoperability (PI) Program for hospitals and the Merit-Based Incentive Payment System (MIPS) PI category for eligible providers under CMS’s Quality Payment Program (QPP). However, concepts like Data Quality Measures (DQMs) and Clinical Quality Language (CQL) still play roles in reporting electronic clinical quality measures (eCQMs) under these programs.</a:t>
            </a:r>
          </a:p>
        </p:txBody>
      </p:sp>
      <p:sp>
        <p:nvSpPr>
          <p:cNvPr id="8" name="TextBox 7">
            <a:extLst>
              <a:ext uri="{FF2B5EF4-FFF2-40B4-BE49-F238E27FC236}">
                <a16:creationId xmlns:a16="http://schemas.microsoft.com/office/drawing/2014/main" id="{DDC11E17-15AE-2DBC-770A-1C77CF4AC06A}"/>
              </a:ext>
            </a:extLst>
          </p:cNvPr>
          <p:cNvSpPr txBox="1"/>
          <p:nvPr/>
        </p:nvSpPr>
        <p:spPr>
          <a:xfrm>
            <a:off x="683999" y="5670778"/>
            <a:ext cx="10823999" cy="523220"/>
          </a:xfrm>
          <a:prstGeom prst="rect">
            <a:avLst/>
          </a:prstGeom>
          <a:noFill/>
        </p:spPr>
        <p:txBody>
          <a:bodyPr wrap="square">
            <a:spAutoFit/>
          </a:bodyPr>
          <a:lstStyle/>
          <a:p>
            <a:r>
              <a:rPr lang="en-US"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While CQL-based eCQMs are still required, DQMs are not yet a required component but are expected through CMS in the future interoperability initiatives. </a:t>
            </a:r>
          </a:p>
        </p:txBody>
      </p:sp>
      <p:sp>
        <p:nvSpPr>
          <p:cNvPr id="2" name="Footer Placeholder 1">
            <a:extLst>
              <a:ext uri="{FF2B5EF4-FFF2-40B4-BE49-F238E27FC236}">
                <a16:creationId xmlns:a16="http://schemas.microsoft.com/office/drawing/2014/main" id="{27D6B590-A3DA-B066-08A3-E2B5167BD032}"/>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2137500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43462-5956-492E-B4E2-E542415A23A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9DAD64E2-B153-EE84-8FE4-84463959D70E}"/>
              </a:ext>
            </a:extLst>
          </p:cNvPr>
          <p:cNvSpPr>
            <a:spLocks noGrp="1"/>
          </p:cNvSpPr>
          <p:nvPr>
            <p:ph type="body" sz="quarter" idx="12"/>
          </p:nvPr>
        </p:nvSpPr>
        <p:spPr>
          <a:xfrm>
            <a:off x="684213" y="1280160"/>
            <a:ext cx="10891551" cy="4932404"/>
          </a:xfrm>
        </p:spPr>
        <p:txBody>
          <a:bodyPr/>
          <a:lstStyle/>
          <a:p>
            <a:r>
              <a:rPr lang="en-US" sz="1400" b="1" dirty="0"/>
              <a:t>dQMs (Digital Quality Measures)</a:t>
            </a:r>
          </a:p>
          <a:p>
            <a:pPr marL="790575" lvl="1" indent="-342900">
              <a:buFont typeface="Arial" panose="020B0604020202020204" pitchFamily="34" charset="0"/>
              <a:buChar char="•"/>
            </a:pPr>
            <a:r>
              <a:rPr lang="en-US" dirty="0"/>
              <a:t>Digital Quality Measures are standards-based, machine-readable specifications for measuring healthcare quality. They are designed to reduce manual effort, improve interoperability, and enhance the accuracy of quality reporting.</a:t>
            </a:r>
          </a:p>
          <a:p>
            <a:pPr marL="790575" lvl="1" indent="-342900">
              <a:buFont typeface="Arial" panose="020B0604020202020204" pitchFamily="34" charset="0"/>
              <a:buChar char="•"/>
            </a:pPr>
            <a:r>
              <a:rPr lang="en-US" dirty="0"/>
              <a:t>dQMs leverage standardized data formats, structured data sources, and electronic health records (EHRs) to automate and streamline the measurement process.</a:t>
            </a:r>
          </a:p>
          <a:p>
            <a:r>
              <a:rPr lang="en-US" sz="1400" b="1" dirty="0"/>
              <a:t>CQL (Clinical Quality Language)</a:t>
            </a:r>
          </a:p>
          <a:p>
            <a:pPr marL="733425" lvl="1" indent="-285750">
              <a:buFont typeface="Arial" panose="020B0604020202020204" pitchFamily="34" charset="0"/>
              <a:buChar char="•"/>
            </a:pPr>
            <a:r>
              <a:rPr lang="en-US" dirty="0"/>
              <a:t>CQL is a human-readable and machine-interpretable language used to express logic for clinical decision support (CDS) and electronic clinical quality measures (eCQMs).</a:t>
            </a:r>
          </a:p>
          <a:p>
            <a:pPr marL="733425" lvl="1" indent="-285750">
              <a:buFont typeface="Arial" panose="020B0604020202020204" pitchFamily="34" charset="0"/>
              <a:buChar char="•"/>
            </a:pPr>
            <a:r>
              <a:rPr lang="en-US" dirty="0"/>
              <a:t>CQL enables standardized logic across various use cases and systems, improving consistency and reducing ambiguity in quality measure definitions.</a:t>
            </a:r>
          </a:p>
          <a:p>
            <a:r>
              <a:rPr lang="en-US" sz="1400" b="1" dirty="0"/>
              <a:t>FHIR (Fast Healthcare Interoperability Resources)</a:t>
            </a:r>
          </a:p>
          <a:p>
            <a:pPr marL="733425" lvl="1" indent="-285750">
              <a:buFont typeface="Arial" panose="020B0604020202020204" pitchFamily="34" charset="0"/>
              <a:buChar char="•"/>
            </a:pPr>
            <a:r>
              <a:rPr lang="en-US" dirty="0"/>
              <a:t>FHIR is a standards framework that facilitates the exchange of healthcare information across systems. It defines resources and APIs for retrieving, storing, and sharing clinical data.</a:t>
            </a:r>
          </a:p>
          <a:p>
            <a:pPr marL="733425" lvl="1" indent="-285750">
              <a:buFont typeface="Arial" panose="020B0604020202020204" pitchFamily="34" charset="0"/>
              <a:buChar char="•"/>
            </a:pPr>
            <a:r>
              <a:rPr lang="en-US" dirty="0"/>
              <a:t>In the context of dQMs, FHIR plays a critical role by providing the data infrastructure and standardization required to extract, compute, and share measure results.</a:t>
            </a:r>
          </a:p>
          <a:p>
            <a:pPr marL="733425" lvl="1" indent="-285750">
              <a:buFont typeface="Arial" panose="020B0604020202020204" pitchFamily="34" charset="0"/>
              <a:buChar char="•"/>
            </a:pPr>
            <a:r>
              <a:rPr lang="en-US" dirty="0"/>
              <a:t>FHIR-based measures leverage FHIR resources (e.g., Patient, Encounter, Condition) to retrieve and compute quality metrics, ensuring data consistency and interoperability across systems.</a:t>
            </a:r>
          </a:p>
        </p:txBody>
      </p:sp>
      <p:sp>
        <p:nvSpPr>
          <p:cNvPr id="4" name="Slide Number Placeholder 3">
            <a:extLst>
              <a:ext uri="{FF2B5EF4-FFF2-40B4-BE49-F238E27FC236}">
                <a16:creationId xmlns:a16="http://schemas.microsoft.com/office/drawing/2014/main" id="{138AE3C8-F330-3DC3-9455-93C663F609A5}"/>
              </a:ext>
            </a:extLst>
          </p:cNvPr>
          <p:cNvSpPr>
            <a:spLocks noGrp="1"/>
          </p:cNvSpPr>
          <p:nvPr>
            <p:ph type="sldNum" sz="quarter" idx="11"/>
          </p:nvPr>
        </p:nvSpPr>
        <p:spPr/>
        <p:txBody>
          <a:bodyPr/>
          <a:lstStyle/>
          <a:p>
            <a:fld id="{EECC7194-A4D0-457B-9D3E-53681723AFF7}" type="slidenum">
              <a:rPr lang="en-US" smtClean="0"/>
              <a:pPr/>
              <a:t>4</a:t>
            </a:fld>
            <a:endParaRPr lang="en-US" dirty="0"/>
          </a:p>
        </p:txBody>
      </p:sp>
      <p:sp>
        <p:nvSpPr>
          <p:cNvPr id="6" name="Title 5">
            <a:extLst>
              <a:ext uri="{FF2B5EF4-FFF2-40B4-BE49-F238E27FC236}">
                <a16:creationId xmlns:a16="http://schemas.microsoft.com/office/drawing/2014/main" id="{E4C52FE1-EF0A-8118-F3B3-CE025E1FCCF7}"/>
              </a:ext>
            </a:extLst>
          </p:cNvPr>
          <p:cNvSpPr>
            <a:spLocks noGrp="1"/>
          </p:cNvSpPr>
          <p:nvPr>
            <p:ph type="title"/>
          </p:nvPr>
        </p:nvSpPr>
        <p:spPr>
          <a:xfrm>
            <a:off x="684000" y="338328"/>
            <a:ext cx="11162238" cy="556194"/>
          </a:xfrm>
        </p:spPr>
        <p:txBody>
          <a:bodyPr/>
          <a:lstStyle/>
          <a:p>
            <a:r>
              <a:rPr lang="en-US" cap="none" dirty="0"/>
              <a:t>…Overview of dQMs and CQL, and the Role of FHIR </a:t>
            </a:r>
          </a:p>
        </p:txBody>
      </p:sp>
      <p:sp>
        <p:nvSpPr>
          <p:cNvPr id="2" name="Footer Placeholder 1">
            <a:extLst>
              <a:ext uri="{FF2B5EF4-FFF2-40B4-BE49-F238E27FC236}">
                <a16:creationId xmlns:a16="http://schemas.microsoft.com/office/drawing/2014/main" id="{F29DB990-65D0-9A99-60E8-30413E362360}"/>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4217169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5D679-5075-E19C-2273-5C288F95304C}"/>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2DAEDE46-3A18-ED6F-9599-454B33353D2E}"/>
              </a:ext>
            </a:extLst>
          </p:cNvPr>
          <p:cNvSpPr>
            <a:spLocks noGrp="1"/>
          </p:cNvSpPr>
          <p:nvPr>
            <p:ph type="body" sz="quarter" idx="12"/>
          </p:nvPr>
        </p:nvSpPr>
        <p:spPr>
          <a:xfrm>
            <a:off x="684213" y="1280160"/>
            <a:ext cx="10891551" cy="4932404"/>
          </a:xfrm>
        </p:spPr>
        <p:txBody>
          <a:bodyPr/>
          <a:lstStyle/>
          <a:p>
            <a:r>
              <a:rPr lang="en-US" sz="1400" b="1" dirty="0"/>
              <a:t>Current Challenges in Traditional Quality Measurement</a:t>
            </a:r>
          </a:p>
          <a:p>
            <a:pPr marL="733425" lvl="1" indent="-285750">
              <a:buFont typeface="Arial" panose="020B0604020202020204" pitchFamily="34" charset="0"/>
              <a:buChar char="•"/>
            </a:pPr>
            <a:r>
              <a:rPr lang="en-US" b="1" dirty="0"/>
              <a:t>Manual Processes</a:t>
            </a:r>
            <a:r>
              <a:rPr lang="en-US" dirty="0"/>
              <a:t>: Paper-based or semi-automated workflows are resource-intensive and error-prone.</a:t>
            </a:r>
          </a:p>
          <a:p>
            <a:pPr marL="733425" lvl="1" indent="-285750">
              <a:buFont typeface="Arial" panose="020B0604020202020204" pitchFamily="34" charset="0"/>
              <a:buChar char="•"/>
            </a:pPr>
            <a:r>
              <a:rPr lang="en-US" b="1" dirty="0"/>
              <a:t>Fragmented Data</a:t>
            </a:r>
            <a:r>
              <a:rPr lang="en-US" dirty="0"/>
              <a:t>: Data is often siloed across different systems, making aggregation and standardization difficult.</a:t>
            </a:r>
          </a:p>
          <a:p>
            <a:pPr marL="733425" lvl="1" indent="-285750">
              <a:buFont typeface="Arial" panose="020B0604020202020204" pitchFamily="34" charset="0"/>
              <a:buChar char="•"/>
            </a:pPr>
            <a:r>
              <a:rPr lang="en-US" b="1" dirty="0"/>
              <a:t>Lack of Real-Time Reporting</a:t>
            </a:r>
            <a:r>
              <a:rPr lang="en-US" dirty="0"/>
              <a:t>: Current measures often rely on retrospective data collection, which limits timely interventions.</a:t>
            </a:r>
          </a:p>
          <a:p>
            <a:pPr marL="733425" lvl="1" indent="-285750">
              <a:buFont typeface="Arial" panose="020B0604020202020204" pitchFamily="34" charset="0"/>
              <a:buChar char="•"/>
            </a:pPr>
            <a:r>
              <a:rPr lang="en-US" b="1" dirty="0"/>
              <a:t>Complexity and Ambiguity</a:t>
            </a:r>
            <a:r>
              <a:rPr lang="en-US" dirty="0"/>
              <a:t>: Proprietary formats and inconsistent definitions increase the complexity of implementing quality measures.</a:t>
            </a:r>
            <a:endParaRPr lang="en-US" sz="4000" dirty="0"/>
          </a:p>
          <a:p>
            <a:endParaRPr lang="en-US" sz="1400" b="1" dirty="0"/>
          </a:p>
          <a:p>
            <a:r>
              <a:rPr lang="en-US" sz="1400" b="1" dirty="0"/>
              <a:t>Advantages of dQMs</a:t>
            </a:r>
          </a:p>
          <a:p>
            <a:pPr marL="733425" lvl="1" indent="-285750">
              <a:buFont typeface="Arial" panose="020B0604020202020204" pitchFamily="34" charset="0"/>
              <a:buChar char="•"/>
            </a:pPr>
            <a:r>
              <a:rPr lang="en-US" b="1" dirty="0"/>
              <a:t>Automation</a:t>
            </a:r>
            <a:r>
              <a:rPr lang="en-US" dirty="0"/>
              <a:t>: dQMs use structured, standardized data (e.g., FHIR) to reduce manual data abstraction.</a:t>
            </a:r>
          </a:p>
          <a:p>
            <a:pPr marL="733425" lvl="1" indent="-285750">
              <a:buFont typeface="Arial" panose="020B0604020202020204" pitchFamily="34" charset="0"/>
              <a:buChar char="•"/>
            </a:pPr>
            <a:r>
              <a:rPr lang="en-US" b="1" dirty="0"/>
              <a:t>Interoperability</a:t>
            </a:r>
            <a:r>
              <a:rPr lang="en-US" dirty="0"/>
              <a:t>: Leveraging FHIR ensures seamless data sharing across systems, enabling a unified view of patient care.</a:t>
            </a:r>
          </a:p>
          <a:p>
            <a:pPr marL="733425" lvl="1" indent="-285750">
              <a:buFont typeface="Arial" panose="020B0604020202020204" pitchFamily="34" charset="0"/>
              <a:buChar char="•"/>
            </a:pPr>
            <a:r>
              <a:rPr lang="en-US" b="1" dirty="0"/>
              <a:t>Real-Time Analytics</a:t>
            </a:r>
            <a:r>
              <a:rPr lang="en-US" dirty="0"/>
              <a:t>: dQMs can enable near real-time quality measurement, improving responsiveness and care outcomes.</a:t>
            </a:r>
          </a:p>
          <a:p>
            <a:pPr marL="733425" lvl="1" indent="-285750">
              <a:buFont typeface="Arial" panose="020B0604020202020204" pitchFamily="34" charset="0"/>
              <a:buChar char="•"/>
            </a:pPr>
            <a:r>
              <a:rPr lang="en-US" b="1" dirty="0"/>
              <a:t>Consistency</a:t>
            </a:r>
            <a:r>
              <a:rPr lang="en-US" dirty="0"/>
              <a:t>: Using CQL ensures logic is expressed consistently across systems and use cases.</a:t>
            </a:r>
          </a:p>
          <a:p>
            <a:pPr marL="733425" lvl="1" indent="-285750">
              <a:buFont typeface="Arial" panose="020B0604020202020204" pitchFamily="34" charset="0"/>
              <a:buChar char="•"/>
            </a:pPr>
            <a:r>
              <a:rPr lang="en-US" b="1" dirty="0"/>
              <a:t>Scalability</a:t>
            </a:r>
            <a:r>
              <a:rPr lang="en-US" dirty="0"/>
              <a:t>: Automated and standardized approaches make it easier to scale measurement programs across organizations and regions.</a:t>
            </a:r>
          </a:p>
          <a:p>
            <a:pPr marL="733425" lvl="1" indent="-285750">
              <a:buFont typeface="Arial" panose="020B0604020202020204" pitchFamily="34" charset="0"/>
              <a:buChar char="•"/>
            </a:pPr>
            <a:r>
              <a:rPr lang="en-US" b="1" dirty="0"/>
              <a:t>Cost Efficiency</a:t>
            </a:r>
            <a:r>
              <a:rPr lang="en-US" dirty="0"/>
              <a:t>: Reducing manual processes lowers administrative burdens and associated costs.</a:t>
            </a:r>
          </a:p>
        </p:txBody>
      </p:sp>
      <p:sp>
        <p:nvSpPr>
          <p:cNvPr id="4" name="Slide Number Placeholder 3">
            <a:extLst>
              <a:ext uri="{FF2B5EF4-FFF2-40B4-BE49-F238E27FC236}">
                <a16:creationId xmlns:a16="http://schemas.microsoft.com/office/drawing/2014/main" id="{CD47587B-5AB5-0C54-10F9-8F8B52F2FA72}"/>
              </a:ext>
            </a:extLst>
          </p:cNvPr>
          <p:cNvSpPr>
            <a:spLocks noGrp="1"/>
          </p:cNvSpPr>
          <p:nvPr>
            <p:ph type="sldNum" sz="quarter" idx="11"/>
          </p:nvPr>
        </p:nvSpPr>
        <p:spPr/>
        <p:txBody>
          <a:bodyPr/>
          <a:lstStyle/>
          <a:p>
            <a:fld id="{EECC7194-A4D0-457B-9D3E-53681723AFF7}" type="slidenum">
              <a:rPr lang="en-US" smtClean="0"/>
              <a:pPr/>
              <a:t>5</a:t>
            </a:fld>
            <a:endParaRPr lang="en-US" dirty="0"/>
          </a:p>
        </p:txBody>
      </p:sp>
      <p:sp>
        <p:nvSpPr>
          <p:cNvPr id="6" name="Title 5">
            <a:extLst>
              <a:ext uri="{FF2B5EF4-FFF2-40B4-BE49-F238E27FC236}">
                <a16:creationId xmlns:a16="http://schemas.microsoft.com/office/drawing/2014/main" id="{16A9D7D7-9960-2D80-5FFD-089DA3E84887}"/>
              </a:ext>
            </a:extLst>
          </p:cNvPr>
          <p:cNvSpPr>
            <a:spLocks noGrp="1"/>
          </p:cNvSpPr>
          <p:nvPr>
            <p:ph type="title"/>
          </p:nvPr>
        </p:nvSpPr>
        <p:spPr>
          <a:xfrm>
            <a:off x="684000" y="338328"/>
            <a:ext cx="11162238" cy="556194"/>
          </a:xfrm>
        </p:spPr>
        <p:txBody>
          <a:bodyPr/>
          <a:lstStyle/>
          <a:p>
            <a:r>
              <a:rPr lang="en-US" cap="none" dirty="0"/>
              <a:t>Advantages of dQMs vs Current Approaches</a:t>
            </a:r>
          </a:p>
        </p:txBody>
      </p:sp>
      <p:sp>
        <p:nvSpPr>
          <p:cNvPr id="2" name="Footer Placeholder 1">
            <a:extLst>
              <a:ext uri="{FF2B5EF4-FFF2-40B4-BE49-F238E27FC236}">
                <a16:creationId xmlns:a16="http://schemas.microsoft.com/office/drawing/2014/main" id="{55C2AE36-ADEC-AAAB-B146-D4984A864F65}"/>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394756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EF1336-7DDD-54EB-1B39-7B8553CA9C43}"/>
              </a:ext>
            </a:extLst>
          </p:cNvPr>
          <p:cNvSpPr>
            <a:spLocks noGrp="1"/>
          </p:cNvSpPr>
          <p:nvPr>
            <p:ph type="body" sz="quarter" idx="12"/>
          </p:nvPr>
        </p:nvSpPr>
        <p:spPr>
          <a:xfrm>
            <a:off x="684213" y="1280160"/>
            <a:ext cx="5411787" cy="4725830"/>
          </a:xfrm>
          <a:ln>
            <a:solidFill>
              <a:schemeClr val="bg1">
                <a:lumMod val="65000"/>
              </a:schemeClr>
            </a:solidFill>
            <a:prstDash val="dash"/>
          </a:ln>
        </p:spPr>
        <p:txBody>
          <a:bodyPr lIns="182880" rIns="182880"/>
          <a:lstStyle/>
          <a:p>
            <a:r>
              <a:rPr lang="en-US" sz="1400" b="1" dirty="0"/>
              <a:t>Roadblocks</a:t>
            </a:r>
          </a:p>
          <a:p>
            <a:pPr indent="-342900">
              <a:buFont typeface="+mj-lt"/>
              <a:buAutoNum type="arabicPeriod"/>
            </a:pPr>
            <a:r>
              <a:rPr lang="en-US" sz="1400" b="1" dirty="0"/>
              <a:t>Data Quality and Availability</a:t>
            </a:r>
            <a:r>
              <a:rPr lang="en-US" sz="1400" dirty="0"/>
              <a:t>: Incomplete or inconsistent data in EHRs can limit the effectiveness of dQMs.</a:t>
            </a:r>
          </a:p>
          <a:p>
            <a:pPr indent="-342900">
              <a:buFont typeface="+mj-lt"/>
              <a:buAutoNum type="arabicPeriod"/>
            </a:pPr>
            <a:r>
              <a:rPr lang="en-US" sz="1400" b="1" dirty="0"/>
              <a:t>Interoperability Challenges</a:t>
            </a:r>
            <a:r>
              <a:rPr lang="en-US" sz="1400" dirty="0"/>
              <a:t>: Not all systems are FHIR-compliant, requiring costly integration efforts.</a:t>
            </a:r>
          </a:p>
          <a:p>
            <a:pPr indent="-342900">
              <a:buFont typeface="+mj-lt"/>
              <a:buAutoNum type="arabicPeriod"/>
            </a:pPr>
            <a:r>
              <a:rPr lang="en-US" sz="1400" b="1" dirty="0"/>
              <a:t>Technical Complexity</a:t>
            </a:r>
            <a:r>
              <a:rPr lang="en-US" sz="1400" dirty="0"/>
              <a:t>: Implementing dQMs involves transitioning from legacy systems to new standards, requiring investment in tools, training, and infrastructure.</a:t>
            </a:r>
          </a:p>
          <a:p>
            <a:pPr indent="-342900">
              <a:buFont typeface="+mj-lt"/>
              <a:buAutoNum type="arabicPeriod"/>
            </a:pPr>
            <a:r>
              <a:rPr lang="en-US" sz="1400" b="1" dirty="0"/>
              <a:t>Regulatory Compliance</a:t>
            </a:r>
            <a:r>
              <a:rPr lang="en-US" sz="1400" dirty="0"/>
              <a:t>: Aligning dQMs with evolving regulatory frameworks can be complex.</a:t>
            </a:r>
          </a:p>
          <a:p>
            <a:pPr indent="-342900">
              <a:buFont typeface="+mj-lt"/>
              <a:buAutoNum type="arabicPeriod"/>
            </a:pPr>
            <a:r>
              <a:rPr lang="en-US" sz="1400" b="1" dirty="0"/>
              <a:t>Stakeholder Buy-In</a:t>
            </a:r>
            <a:r>
              <a:rPr lang="en-US" sz="1400" dirty="0"/>
              <a:t>: Engaging providers, payers, and technology vendors to adopt dQMs requires clear demonstration of value.</a:t>
            </a:r>
          </a:p>
          <a:p>
            <a:pPr indent="-342900">
              <a:buFont typeface="+mj-lt"/>
              <a:buAutoNum type="arabicPeriod"/>
            </a:pPr>
            <a:r>
              <a:rPr lang="en-US" sz="1400" b="1" dirty="0"/>
              <a:t>Privacy Concerns</a:t>
            </a:r>
            <a:r>
              <a:rPr lang="en-US" sz="1400" dirty="0"/>
              <a:t>: Ensuring compliance with data privacy laws (e.g., HIPAA) while enabling real-time data exchange.</a:t>
            </a:r>
          </a:p>
        </p:txBody>
      </p:sp>
      <p:sp>
        <p:nvSpPr>
          <p:cNvPr id="3" name="Slide Number Placeholder 2">
            <a:extLst>
              <a:ext uri="{FF2B5EF4-FFF2-40B4-BE49-F238E27FC236}">
                <a16:creationId xmlns:a16="http://schemas.microsoft.com/office/drawing/2014/main" id="{9B223156-956C-7C67-8CFE-C273C555D395}"/>
              </a:ext>
            </a:extLst>
          </p:cNvPr>
          <p:cNvSpPr>
            <a:spLocks noGrp="1"/>
          </p:cNvSpPr>
          <p:nvPr>
            <p:ph type="sldNum" sz="quarter" idx="11"/>
          </p:nvPr>
        </p:nvSpPr>
        <p:spPr/>
        <p:txBody>
          <a:bodyPr/>
          <a:lstStyle/>
          <a:p>
            <a:fld id="{EECC7194-A4D0-457B-9D3E-53681723AFF7}" type="slidenum">
              <a:rPr lang="en-US" smtClean="0"/>
              <a:pPr/>
              <a:t>6</a:t>
            </a:fld>
            <a:endParaRPr lang="en-US" dirty="0"/>
          </a:p>
        </p:txBody>
      </p:sp>
      <p:sp>
        <p:nvSpPr>
          <p:cNvPr id="4" name="Title 3">
            <a:extLst>
              <a:ext uri="{FF2B5EF4-FFF2-40B4-BE49-F238E27FC236}">
                <a16:creationId xmlns:a16="http://schemas.microsoft.com/office/drawing/2014/main" id="{A8B099D0-377E-60F4-02C6-A9060AFD0243}"/>
              </a:ext>
            </a:extLst>
          </p:cNvPr>
          <p:cNvSpPr>
            <a:spLocks noGrp="1"/>
          </p:cNvSpPr>
          <p:nvPr>
            <p:ph type="title"/>
          </p:nvPr>
        </p:nvSpPr>
        <p:spPr>
          <a:xfrm>
            <a:off x="685800" y="342017"/>
            <a:ext cx="11160438" cy="370166"/>
          </a:xfrm>
        </p:spPr>
        <p:txBody>
          <a:bodyPr/>
          <a:lstStyle/>
          <a:p>
            <a:r>
              <a:rPr lang="en-US" dirty="0"/>
              <a:t>Key Roadblocks and Critical Considerations for Implementation</a:t>
            </a:r>
          </a:p>
        </p:txBody>
      </p:sp>
      <p:sp>
        <p:nvSpPr>
          <p:cNvPr id="5" name="Text Placeholder 1">
            <a:extLst>
              <a:ext uri="{FF2B5EF4-FFF2-40B4-BE49-F238E27FC236}">
                <a16:creationId xmlns:a16="http://schemas.microsoft.com/office/drawing/2014/main" id="{E0C44C35-94A7-EB4D-E8BA-6442169455B3}"/>
              </a:ext>
            </a:extLst>
          </p:cNvPr>
          <p:cNvSpPr txBox="1">
            <a:spLocks/>
          </p:cNvSpPr>
          <p:nvPr/>
        </p:nvSpPr>
        <p:spPr>
          <a:xfrm>
            <a:off x="6434451" y="1280160"/>
            <a:ext cx="5411787" cy="4725830"/>
          </a:xfrm>
          <a:prstGeom prst="rect">
            <a:avLst/>
          </a:prstGeom>
          <a:ln>
            <a:solidFill>
              <a:schemeClr val="bg1">
                <a:lumMod val="65000"/>
              </a:schemeClr>
            </a:solidFill>
            <a:prstDash val="dash"/>
          </a:ln>
        </p:spPr>
        <p:txBody>
          <a:bodyPr vert="horz" lIns="182880" tIns="0" rIns="182880" bIns="0" rtlCol="0">
            <a:noAutofit/>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2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Critical Considerations</a:t>
            </a:r>
          </a:p>
          <a:p>
            <a:pPr indent="-342900">
              <a:buFont typeface="+mj-lt"/>
              <a:buAutoNum type="arabicPeriod"/>
            </a:pPr>
            <a:r>
              <a:rPr lang="en-US" sz="1400" b="1" dirty="0"/>
              <a:t>Governance and Standards</a:t>
            </a:r>
            <a:r>
              <a:rPr lang="en-US" sz="1400" dirty="0"/>
              <a:t>: Adopting widely accepted standards like FHIR and CQL to ensure consistency and compatibility.</a:t>
            </a:r>
          </a:p>
          <a:p>
            <a:pPr indent="-342900">
              <a:buFont typeface="+mj-lt"/>
              <a:buAutoNum type="arabicPeriod"/>
            </a:pPr>
            <a:r>
              <a:rPr lang="en-US" sz="1400" b="1" dirty="0"/>
              <a:t>Infrastructure Readiness</a:t>
            </a:r>
            <a:r>
              <a:rPr lang="en-US" sz="1400" dirty="0"/>
              <a:t>: Assessing the technical capabilities of existing systems to support dQMs.</a:t>
            </a:r>
          </a:p>
          <a:p>
            <a:pPr indent="-342900">
              <a:buFont typeface="+mj-lt"/>
              <a:buAutoNum type="arabicPeriod"/>
            </a:pPr>
            <a:r>
              <a:rPr lang="en-US" sz="1400" b="1" dirty="0"/>
              <a:t>Training and Education</a:t>
            </a:r>
            <a:r>
              <a:rPr lang="en-US" sz="1400" dirty="0"/>
              <a:t>: Equipping staff with the knowledge to implement and maintain dQMs effectively.</a:t>
            </a:r>
          </a:p>
          <a:p>
            <a:pPr indent="-342900">
              <a:buFont typeface="+mj-lt"/>
              <a:buAutoNum type="arabicPeriod"/>
            </a:pPr>
            <a:r>
              <a:rPr lang="en-US" sz="1400" b="1" dirty="0"/>
              <a:t>Stakeholder Engagement</a:t>
            </a:r>
            <a:r>
              <a:rPr lang="en-US" sz="1400" dirty="0"/>
              <a:t>: Collaborating with clinicians, IT staff, and administrators to align goals and expectations.</a:t>
            </a:r>
          </a:p>
          <a:p>
            <a:pPr indent="-342900">
              <a:buFont typeface="+mj-lt"/>
              <a:buAutoNum type="arabicPeriod"/>
            </a:pPr>
            <a:r>
              <a:rPr lang="en-US" sz="1400" b="1" dirty="0"/>
              <a:t>Incremental Implementation</a:t>
            </a:r>
            <a:r>
              <a:rPr lang="en-US" sz="1400" dirty="0"/>
              <a:t>: Gradual adoption, starting with pilot programs, to identify and address challenges early.</a:t>
            </a:r>
          </a:p>
        </p:txBody>
      </p:sp>
      <p:cxnSp>
        <p:nvCxnSpPr>
          <p:cNvPr id="7" name="Straight Connector 6">
            <a:extLst>
              <a:ext uri="{FF2B5EF4-FFF2-40B4-BE49-F238E27FC236}">
                <a16:creationId xmlns:a16="http://schemas.microsoft.com/office/drawing/2014/main" id="{09C3ED1F-5EB4-0C8B-F99F-32D0C6A8C87A}"/>
              </a:ext>
            </a:extLst>
          </p:cNvPr>
          <p:cNvCxnSpPr/>
          <p:nvPr/>
        </p:nvCxnSpPr>
        <p:spPr>
          <a:xfrm>
            <a:off x="6266019" y="1280160"/>
            <a:ext cx="0" cy="4725830"/>
          </a:xfrm>
          <a:prstGeom prst="line">
            <a:avLst/>
          </a:prstGeom>
          <a:ln>
            <a:solidFill>
              <a:schemeClr val="accent4">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 name="Footer Placeholder 5">
            <a:extLst>
              <a:ext uri="{FF2B5EF4-FFF2-40B4-BE49-F238E27FC236}">
                <a16:creationId xmlns:a16="http://schemas.microsoft.com/office/drawing/2014/main" id="{56018BBE-E011-D09B-7816-C73E1AD63A07}"/>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2673275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descr="Doctor standing in front of a computer&#10;">
            <a:extLst>
              <a:ext uri="{FF2B5EF4-FFF2-40B4-BE49-F238E27FC236}">
                <a16:creationId xmlns:a16="http://schemas.microsoft.com/office/drawing/2014/main" id="{D4AB4507-F77A-44A5-B290-3F3D4817B7BD}"/>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19" name="Rectangle 18">
            <a:extLst>
              <a:ext uri="{FF2B5EF4-FFF2-40B4-BE49-F238E27FC236}">
                <a16:creationId xmlns:a16="http://schemas.microsoft.com/office/drawing/2014/main" id="{A4592135-A11E-4178-A320-510C4B7492A3}"/>
              </a:ext>
              <a:ext uri="{C183D7F6-B498-43B3-948B-1728B52AA6E4}">
                <adec:decorative xmlns:adec="http://schemas.microsoft.com/office/drawing/2017/decorative" val="1"/>
              </a:ext>
            </a:extLst>
          </p:cNvPr>
          <p:cNvSpPr/>
          <p:nvPr/>
        </p:nvSpPr>
        <p:spPr>
          <a:xfrm>
            <a:off x="180000" y="179109"/>
            <a:ext cx="11832000" cy="6513922"/>
          </a:xfrm>
          <a:prstGeom prst="rect">
            <a:avLst/>
          </a:prstGeom>
          <a:solidFill>
            <a:schemeClr val="accent4">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C499D5A-91D2-45BF-B204-6FDFFE97FFA9}"/>
              </a:ext>
            </a:extLst>
          </p:cNvPr>
          <p:cNvSpPr>
            <a:spLocks noGrp="1"/>
          </p:cNvSpPr>
          <p:nvPr>
            <p:ph type="title"/>
          </p:nvPr>
        </p:nvSpPr>
        <p:spPr>
          <a:xfrm>
            <a:off x="684000" y="338327"/>
            <a:ext cx="7560000" cy="554979"/>
          </a:xfrm>
        </p:spPr>
        <p:txBody>
          <a:bodyPr/>
          <a:lstStyle/>
          <a:p>
            <a:r>
              <a:rPr lang="en-US" dirty="0"/>
              <a:t>Solution Approach and Features</a:t>
            </a:r>
          </a:p>
        </p:txBody>
      </p:sp>
      <p:sp>
        <p:nvSpPr>
          <p:cNvPr id="4" name="Slide Number Placeholder 3">
            <a:extLst>
              <a:ext uri="{FF2B5EF4-FFF2-40B4-BE49-F238E27FC236}">
                <a16:creationId xmlns:a16="http://schemas.microsoft.com/office/drawing/2014/main" id="{98F61CED-575A-4A61-B181-A44246132635}"/>
              </a:ext>
            </a:extLst>
          </p:cNvPr>
          <p:cNvSpPr>
            <a:spLocks noGrp="1"/>
          </p:cNvSpPr>
          <p:nvPr>
            <p:ph type="sldNum" sz="quarter" idx="11"/>
          </p:nvPr>
        </p:nvSpPr>
        <p:spPr/>
        <p:txBody>
          <a:bodyPr/>
          <a:lstStyle/>
          <a:p>
            <a:fld id="{EECC7194-A4D0-457B-9D3E-53681723AFF7}" type="slidenum">
              <a:rPr lang="en-US" smtClean="0"/>
              <a:pPr/>
              <a:t>7</a:t>
            </a:fld>
            <a:endParaRPr lang="en-US" dirty="0"/>
          </a:p>
        </p:txBody>
      </p:sp>
      <p:sp>
        <p:nvSpPr>
          <p:cNvPr id="5" name="Text Placeholder 4">
            <a:extLst>
              <a:ext uri="{FF2B5EF4-FFF2-40B4-BE49-F238E27FC236}">
                <a16:creationId xmlns:a16="http://schemas.microsoft.com/office/drawing/2014/main" id="{7E6F3A07-B555-4DCB-847F-A2749A0C0866}"/>
              </a:ext>
            </a:extLst>
          </p:cNvPr>
          <p:cNvSpPr>
            <a:spLocks noGrp="1"/>
          </p:cNvSpPr>
          <p:nvPr>
            <p:ph type="body" sz="quarter" idx="13"/>
          </p:nvPr>
        </p:nvSpPr>
        <p:spPr>
          <a:xfrm>
            <a:off x="1470581" y="2115516"/>
            <a:ext cx="2812282" cy="1242556"/>
          </a:xfrm>
        </p:spPr>
        <p:txBody>
          <a:bodyPr/>
          <a:lstStyle/>
          <a:p>
            <a:pPr marL="171450" indent="-171450">
              <a:buFont typeface="Arial" panose="020B0604020202020204" pitchFamily="34" charset="0"/>
              <a:buChar char="•"/>
            </a:pPr>
            <a:r>
              <a:rPr lang="en-US" dirty="0"/>
              <a:t>dQMs enable real-time analysis of patient data to identify gaps such as missed screenings or vaccinations.</a:t>
            </a:r>
          </a:p>
          <a:p>
            <a:pPr marL="171450" indent="-171450">
              <a:buFont typeface="Arial" panose="020B0604020202020204" pitchFamily="34" charset="0"/>
              <a:buChar char="•"/>
            </a:pPr>
            <a:r>
              <a:rPr lang="en-US"/>
              <a:t>Use Case: </a:t>
            </a:r>
            <a:r>
              <a:rPr lang="en-US" dirty="0"/>
              <a:t>A dQM could flag diabetic patients who have not received their annual HbA1c test.</a:t>
            </a:r>
          </a:p>
        </p:txBody>
      </p:sp>
      <p:sp>
        <p:nvSpPr>
          <p:cNvPr id="6" name="Text Placeholder 5">
            <a:extLst>
              <a:ext uri="{FF2B5EF4-FFF2-40B4-BE49-F238E27FC236}">
                <a16:creationId xmlns:a16="http://schemas.microsoft.com/office/drawing/2014/main" id="{D1BEBF22-A40E-4194-AD9A-12E9E5AB0013}"/>
              </a:ext>
            </a:extLst>
          </p:cNvPr>
          <p:cNvSpPr>
            <a:spLocks noGrp="1"/>
          </p:cNvSpPr>
          <p:nvPr>
            <p:ph type="body" sz="quarter" idx="14"/>
          </p:nvPr>
        </p:nvSpPr>
        <p:spPr>
          <a:xfrm>
            <a:off x="1470581" y="1457757"/>
            <a:ext cx="1631207" cy="554643"/>
          </a:xfrm>
        </p:spPr>
        <p:txBody>
          <a:bodyPr/>
          <a:lstStyle/>
          <a:p>
            <a:r>
              <a:rPr lang="en-US" dirty="0">
                <a:solidFill>
                  <a:schemeClr val="bg2"/>
                </a:solidFill>
              </a:rPr>
              <a:t>Identifying Gaps in Care</a:t>
            </a:r>
          </a:p>
        </p:txBody>
      </p:sp>
      <p:sp>
        <p:nvSpPr>
          <p:cNvPr id="7" name="Text Placeholder 6">
            <a:extLst>
              <a:ext uri="{FF2B5EF4-FFF2-40B4-BE49-F238E27FC236}">
                <a16:creationId xmlns:a16="http://schemas.microsoft.com/office/drawing/2014/main" id="{998C0573-728C-4817-B25F-9C4BA8292FDB}"/>
              </a:ext>
            </a:extLst>
          </p:cNvPr>
          <p:cNvSpPr>
            <a:spLocks noGrp="1"/>
          </p:cNvSpPr>
          <p:nvPr>
            <p:ph type="body" sz="quarter" idx="15"/>
          </p:nvPr>
        </p:nvSpPr>
        <p:spPr>
          <a:xfrm>
            <a:off x="5031291" y="2115516"/>
            <a:ext cx="2812282" cy="1242556"/>
          </a:xfrm>
        </p:spPr>
        <p:txBody>
          <a:bodyPr/>
          <a:lstStyle/>
          <a:p>
            <a:pPr marL="171450" indent="-171450">
              <a:buFont typeface="Arial" panose="020B0604020202020204" pitchFamily="34" charset="0"/>
              <a:buChar char="•"/>
            </a:pPr>
            <a:r>
              <a:rPr lang="en-US" dirty="0"/>
              <a:t>dQMs support advanced analytics by leveraging standardized data and logic to generate actionable insights.</a:t>
            </a:r>
          </a:p>
          <a:p>
            <a:pPr marL="171450" indent="-171450">
              <a:buFont typeface="Arial" panose="020B0604020202020204" pitchFamily="34" charset="0"/>
              <a:buChar char="•"/>
            </a:pPr>
            <a:r>
              <a:rPr lang="en-US" dirty="0"/>
              <a:t>Use Case: Aggregating population health data to assess trends and identify high-risk groups.</a:t>
            </a:r>
            <a:endParaRPr lang="en-US" noProof="1"/>
          </a:p>
        </p:txBody>
      </p:sp>
      <p:sp>
        <p:nvSpPr>
          <p:cNvPr id="8" name="Text Placeholder 7">
            <a:extLst>
              <a:ext uri="{FF2B5EF4-FFF2-40B4-BE49-F238E27FC236}">
                <a16:creationId xmlns:a16="http://schemas.microsoft.com/office/drawing/2014/main" id="{D23D57FF-A4A8-4B9F-8E36-4755E494CBB8}"/>
              </a:ext>
            </a:extLst>
          </p:cNvPr>
          <p:cNvSpPr>
            <a:spLocks noGrp="1"/>
          </p:cNvSpPr>
          <p:nvPr>
            <p:ph type="body" sz="quarter" idx="16"/>
          </p:nvPr>
        </p:nvSpPr>
        <p:spPr>
          <a:xfrm>
            <a:off x="5031291" y="1457757"/>
            <a:ext cx="2812282" cy="554643"/>
          </a:xfrm>
        </p:spPr>
        <p:txBody>
          <a:bodyPr/>
          <a:lstStyle/>
          <a:p>
            <a:r>
              <a:rPr lang="en-US" dirty="0">
                <a:solidFill>
                  <a:schemeClr val="bg2"/>
                </a:solidFill>
              </a:rPr>
              <a:t>Enhancing Analytics</a:t>
            </a:r>
          </a:p>
        </p:txBody>
      </p:sp>
      <p:sp>
        <p:nvSpPr>
          <p:cNvPr id="9" name="Text Placeholder 8">
            <a:extLst>
              <a:ext uri="{FF2B5EF4-FFF2-40B4-BE49-F238E27FC236}">
                <a16:creationId xmlns:a16="http://schemas.microsoft.com/office/drawing/2014/main" id="{EA2C873E-AF75-4B6A-8EBE-2F12C5A7E6A0}"/>
              </a:ext>
            </a:extLst>
          </p:cNvPr>
          <p:cNvSpPr>
            <a:spLocks noGrp="1"/>
          </p:cNvSpPr>
          <p:nvPr>
            <p:ph type="body" sz="quarter" idx="17"/>
          </p:nvPr>
        </p:nvSpPr>
        <p:spPr>
          <a:xfrm>
            <a:off x="8592000" y="2115516"/>
            <a:ext cx="2812282" cy="1242556"/>
          </a:xfrm>
        </p:spPr>
        <p:txBody>
          <a:bodyPr/>
          <a:lstStyle/>
          <a:p>
            <a:pPr marL="171450" indent="-171450">
              <a:buFont typeface="Arial" panose="020B0604020202020204" pitchFamily="34" charset="0"/>
              <a:buChar char="•"/>
            </a:pPr>
            <a:r>
              <a:rPr lang="en-US" dirty="0"/>
              <a:t>dQMs align with value-based care models by providing timely and accurate metrics on outcomes, utilization, and cost.</a:t>
            </a:r>
          </a:p>
          <a:p>
            <a:pPr marL="171450" indent="-171450">
              <a:buFont typeface="Arial" panose="020B0604020202020204" pitchFamily="34" charset="0"/>
              <a:buChar char="•"/>
            </a:pPr>
            <a:r>
              <a:rPr lang="en-US" dirty="0"/>
              <a:t>Use Case: Measuring the effectiveness of care coordination interventions for patients with chronic conditions.</a:t>
            </a:r>
            <a:endParaRPr lang="en-US" noProof="1"/>
          </a:p>
        </p:txBody>
      </p:sp>
      <p:sp>
        <p:nvSpPr>
          <p:cNvPr id="10" name="Text Placeholder 9">
            <a:extLst>
              <a:ext uri="{FF2B5EF4-FFF2-40B4-BE49-F238E27FC236}">
                <a16:creationId xmlns:a16="http://schemas.microsoft.com/office/drawing/2014/main" id="{FA62A9F2-7193-4B39-BE74-49635D23507F}"/>
              </a:ext>
            </a:extLst>
          </p:cNvPr>
          <p:cNvSpPr>
            <a:spLocks noGrp="1"/>
          </p:cNvSpPr>
          <p:nvPr>
            <p:ph type="body" sz="quarter" idx="18"/>
          </p:nvPr>
        </p:nvSpPr>
        <p:spPr>
          <a:xfrm>
            <a:off x="8592000" y="1457757"/>
            <a:ext cx="2812282" cy="554643"/>
          </a:xfrm>
        </p:spPr>
        <p:txBody>
          <a:bodyPr/>
          <a:lstStyle/>
          <a:p>
            <a:r>
              <a:rPr lang="en-US" dirty="0">
                <a:solidFill>
                  <a:schemeClr val="bg2"/>
                </a:solidFill>
              </a:rPr>
              <a:t>Enabling Value-Based Care</a:t>
            </a:r>
          </a:p>
        </p:txBody>
      </p:sp>
      <p:sp>
        <p:nvSpPr>
          <p:cNvPr id="11" name="Text Placeholder 10">
            <a:extLst>
              <a:ext uri="{FF2B5EF4-FFF2-40B4-BE49-F238E27FC236}">
                <a16:creationId xmlns:a16="http://schemas.microsoft.com/office/drawing/2014/main" id="{D39B9111-D7E0-4C6E-8B6D-2598C446AF61}"/>
              </a:ext>
            </a:extLst>
          </p:cNvPr>
          <p:cNvSpPr>
            <a:spLocks noGrp="1"/>
          </p:cNvSpPr>
          <p:nvPr>
            <p:ph type="body" sz="quarter" idx="19"/>
          </p:nvPr>
        </p:nvSpPr>
        <p:spPr>
          <a:xfrm>
            <a:off x="1470581" y="4264929"/>
            <a:ext cx="2812282" cy="1242556"/>
          </a:xfrm>
        </p:spPr>
        <p:txBody>
          <a:bodyPr/>
          <a:lstStyle/>
          <a:p>
            <a:pPr marL="171450" indent="-171450">
              <a:buFont typeface="Arial" panose="020B0604020202020204" pitchFamily="34" charset="0"/>
              <a:buChar char="•"/>
            </a:pPr>
            <a:r>
              <a:rPr lang="en-US" dirty="0"/>
              <a:t>dQMs integrate with CDS tools to provide real-time feedback and alerts based on quality metrics.</a:t>
            </a:r>
          </a:p>
          <a:p>
            <a:pPr marL="171450" indent="-171450">
              <a:buFont typeface="Arial" panose="020B0604020202020204" pitchFamily="34" charset="0"/>
              <a:buChar char="•"/>
            </a:pPr>
            <a:r>
              <a:rPr lang="en-US" dirty="0"/>
              <a:t>Use Case: A dQM could trigger a CDS alert for a clinician to order preventive care for eligible patients during an encounter.</a:t>
            </a:r>
            <a:endParaRPr lang="en-US" noProof="1"/>
          </a:p>
        </p:txBody>
      </p:sp>
      <p:sp>
        <p:nvSpPr>
          <p:cNvPr id="12" name="Text Placeholder 11">
            <a:extLst>
              <a:ext uri="{FF2B5EF4-FFF2-40B4-BE49-F238E27FC236}">
                <a16:creationId xmlns:a16="http://schemas.microsoft.com/office/drawing/2014/main" id="{2C6192BD-E170-4A74-8019-C8202728C49D}"/>
              </a:ext>
            </a:extLst>
          </p:cNvPr>
          <p:cNvSpPr>
            <a:spLocks noGrp="1"/>
          </p:cNvSpPr>
          <p:nvPr>
            <p:ph type="body" sz="quarter" idx="20"/>
          </p:nvPr>
        </p:nvSpPr>
        <p:spPr>
          <a:xfrm>
            <a:off x="1470581" y="3607170"/>
            <a:ext cx="2812282" cy="554643"/>
          </a:xfrm>
        </p:spPr>
        <p:txBody>
          <a:bodyPr/>
          <a:lstStyle/>
          <a:p>
            <a:r>
              <a:rPr lang="en-US" dirty="0">
                <a:solidFill>
                  <a:schemeClr val="bg2"/>
                </a:solidFill>
              </a:rPr>
              <a:t>Supporting Clinical Decision Support (CDS)</a:t>
            </a:r>
          </a:p>
        </p:txBody>
      </p:sp>
      <p:sp>
        <p:nvSpPr>
          <p:cNvPr id="13" name="Text Placeholder 12">
            <a:extLst>
              <a:ext uri="{FF2B5EF4-FFF2-40B4-BE49-F238E27FC236}">
                <a16:creationId xmlns:a16="http://schemas.microsoft.com/office/drawing/2014/main" id="{1590D2A3-9EEB-4BD9-A6F1-7A6252D21D06}"/>
              </a:ext>
            </a:extLst>
          </p:cNvPr>
          <p:cNvSpPr>
            <a:spLocks noGrp="1"/>
          </p:cNvSpPr>
          <p:nvPr>
            <p:ph type="body" sz="quarter" idx="21"/>
          </p:nvPr>
        </p:nvSpPr>
        <p:spPr>
          <a:xfrm>
            <a:off x="5031291" y="4264929"/>
            <a:ext cx="2812282" cy="1242556"/>
          </a:xfrm>
        </p:spPr>
        <p:txBody>
          <a:bodyPr/>
          <a:lstStyle/>
          <a:p>
            <a:pPr marL="171450" indent="-171450">
              <a:buFont typeface="Arial" panose="020B0604020202020204" pitchFamily="34" charset="0"/>
              <a:buChar char="•"/>
            </a:pPr>
            <a:r>
              <a:rPr lang="en-US" dirty="0"/>
              <a:t>dQMs streamline compliance reporting for programs such as CMS’s Merit-based Incentive Payment System (MIPS).</a:t>
            </a:r>
          </a:p>
          <a:p>
            <a:pPr marL="171450" indent="-171450">
              <a:buFont typeface="Arial" panose="020B0604020202020204" pitchFamily="34" charset="0"/>
              <a:buChar char="•"/>
            </a:pPr>
            <a:r>
              <a:rPr lang="en-US" dirty="0"/>
              <a:t>Use Case: Automating reporting of quality measures for accountable care organizations (ACOs).</a:t>
            </a:r>
            <a:endParaRPr lang="en-US" noProof="1"/>
          </a:p>
        </p:txBody>
      </p:sp>
      <p:sp>
        <p:nvSpPr>
          <p:cNvPr id="14" name="Text Placeholder 13">
            <a:extLst>
              <a:ext uri="{FF2B5EF4-FFF2-40B4-BE49-F238E27FC236}">
                <a16:creationId xmlns:a16="http://schemas.microsoft.com/office/drawing/2014/main" id="{FA88E256-0941-4678-8F52-4A15674EC324}"/>
              </a:ext>
            </a:extLst>
          </p:cNvPr>
          <p:cNvSpPr>
            <a:spLocks noGrp="1"/>
          </p:cNvSpPr>
          <p:nvPr>
            <p:ph type="body" sz="quarter" idx="22"/>
          </p:nvPr>
        </p:nvSpPr>
        <p:spPr>
          <a:xfrm>
            <a:off x="5031291" y="3607170"/>
            <a:ext cx="2812282" cy="554643"/>
          </a:xfrm>
        </p:spPr>
        <p:txBody>
          <a:bodyPr/>
          <a:lstStyle/>
          <a:p>
            <a:r>
              <a:rPr lang="en-US" dirty="0">
                <a:solidFill>
                  <a:schemeClr val="bg2"/>
                </a:solidFill>
              </a:rPr>
              <a:t>Regulatory Reporting and Accreditation</a:t>
            </a:r>
          </a:p>
        </p:txBody>
      </p:sp>
      <p:cxnSp>
        <p:nvCxnSpPr>
          <p:cNvPr id="42" name="Straight Connector 41">
            <a:extLst>
              <a:ext uri="{FF2B5EF4-FFF2-40B4-BE49-F238E27FC236}">
                <a16:creationId xmlns:a16="http://schemas.microsoft.com/office/drawing/2014/main" id="{6917E9BF-7C5E-4DE7-8C66-9B69A207D1E4}"/>
              </a:ext>
              <a:ext uri="{C183D7F6-B498-43B3-948B-1728B52AA6E4}">
                <adec:decorative xmlns:adec="http://schemas.microsoft.com/office/drawing/2017/decorative" val="1"/>
              </a:ext>
            </a:extLst>
          </p:cNvPr>
          <p:cNvCxnSpPr/>
          <p:nvPr/>
        </p:nvCxnSpPr>
        <p:spPr>
          <a:xfrm>
            <a:off x="1511184" y="3398479"/>
            <a:ext cx="9169633" cy="0"/>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14DCD19-05BE-4D3F-A9E1-A9353D50950B}"/>
              </a:ext>
              <a:ext uri="{C183D7F6-B498-43B3-948B-1728B52AA6E4}">
                <adec:decorative xmlns:adec="http://schemas.microsoft.com/office/drawing/2017/decorative" val="1"/>
              </a:ext>
            </a:extLst>
          </p:cNvPr>
          <p:cNvCxnSpPr>
            <a:cxnSpLocks/>
          </p:cNvCxnSpPr>
          <p:nvPr/>
        </p:nvCxnSpPr>
        <p:spPr>
          <a:xfrm>
            <a:off x="4458121" y="2312124"/>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9527B99-C015-4364-A9D0-E9EF5F8CC859}"/>
              </a:ext>
              <a:ext uri="{C183D7F6-B498-43B3-948B-1728B52AA6E4}">
                <adec:decorative xmlns:adec="http://schemas.microsoft.com/office/drawing/2017/decorative" val="1"/>
              </a:ext>
            </a:extLst>
          </p:cNvPr>
          <p:cNvCxnSpPr>
            <a:cxnSpLocks/>
          </p:cNvCxnSpPr>
          <p:nvPr/>
        </p:nvCxnSpPr>
        <p:spPr>
          <a:xfrm>
            <a:off x="8019527" y="2312124"/>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67" name="object 7" descr="Beige rectangle">
            <a:extLst>
              <a:ext uri="{FF2B5EF4-FFF2-40B4-BE49-F238E27FC236}">
                <a16:creationId xmlns:a16="http://schemas.microsoft.com/office/drawing/2014/main" id="{6167A703-9B37-469C-853D-0CB6C1F4D8F0}"/>
              </a:ext>
            </a:extLst>
          </p:cNvPr>
          <p:cNvSpPr/>
          <p:nvPr/>
        </p:nvSpPr>
        <p:spPr bwMode="white">
          <a:xfrm flipV="1">
            <a:off x="722098" y="900548"/>
            <a:ext cx="11124135"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lang="en-US" dirty="0"/>
          </a:p>
        </p:txBody>
      </p:sp>
      <p:sp>
        <p:nvSpPr>
          <p:cNvPr id="41" name="Rectangle 40">
            <a:extLst>
              <a:ext uri="{FF2B5EF4-FFF2-40B4-BE49-F238E27FC236}">
                <a16:creationId xmlns:a16="http://schemas.microsoft.com/office/drawing/2014/main" id="{F1E4A73F-DB3E-4AF4-A250-CB257055A3B2}"/>
              </a:ext>
              <a:ext uri="{C183D7F6-B498-43B3-948B-1728B52AA6E4}">
                <adec:decorative xmlns:adec="http://schemas.microsoft.com/office/drawing/2017/decorative" val="1"/>
              </a:ext>
            </a:extLst>
          </p:cNvPr>
          <p:cNvSpPr>
            <a:spLocks/>
          </p:cNvSpPr>
          <p:nvPr/>
        </p:nvSpPr>
        <p:spPr>
          <a:xfrm>
            <a:off x="898187" y="1485780"/>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651BC50-F263-44D5-B1E1-32D5EA7EA21F}"/>
              </a:ext>
              <a:ext uri="{C183D7F6-B498-43B3-948B-1728B52AA6E4}">
                <adec:decorative xmlns:adec="http://schemas.microsoft.com/office/drawing/2017/decorative" val="1"/>
              </a:ext>
            </a:extLst>
          </p:cNvPr>
          <p:cNvSpPr>
            <a:spLocks/>
          </p:cNvSpPr>
          <p:nvPr/>
        </p:nvSpPr>
        <p:spPr>
          <a:xfrm>
            <a:off x="4458121" y="1485780"/>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100AA00A-91AC-4400-AF7A-EAB0770006ED}"/>
              </a:ext>
              <a:ext uri="{C183D7F6-B498-43B3-948B-1728B52AA6E4}">
                <adec:decorative xmlns:adec="http://schemas.microsoft.com/office/drawing/2017/decorative" val="1"/>
              </a:ext>
            </a:extLst>
          </p:cNvPr>
          <p:cNvSpPr>
            <a:spLocks/>
          </p:cNvSpPr>
          <p:nvPr/>
        </p:nvSpPr>
        <p:spPr>
          <a:xfrm>
            <a:off x="8019527" y="1485780"/>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8CCE096-0925-41C0-AF48-23E7DBC19872}"/>
              </a:ext>
              <a:ext uri="{C183D7F6-B498-43B3-948B-1728B52AA6E4}">
                <adec:decorative xmlns:adec="http://schemas.microsoft.com/office/drawing/2017/decorative" val="1"/>
              </a:ext>
            </a:extLst>
          </p:cNvPr>
          <p:cNvSpPr>
            <a:spLocks/>
          </p:cNvSpPr>
          <p:nvPr/>
        </p:nvSpPr>
        <p:spPr>
          <a:xfrm>
            <a:off x="898187" y="364198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75C6854-B085-4AC0-984F-E73F9C388471}"/>
              </a:ext>
              <a:ext uri="{C183D7F6-B498-43B3-948B-1728B52AA6E4}">
                <adec:decorative xmlns:adec="http://schemas.microsoft.com/office/drawing/2017/decorative" val="1"/>
              </a:ext>
            </a:extLst>
          </p:cNvPr>
          <p:cNvSpPr>
            <a:spLocks/>
          </p:cNvSpPr>
          <p:nvPr/>
        </p:nvSpPr>
        <p:spPr>
          <a:xfrm>
            <a:off x="4458121" y="364198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E2EAB4BE-ED20-4BB8-A23B-B02A1115A828}"/>
              </a:ext>
              <a:ext uri="{C183D7F6-B498-43B3-948B-1728B52AA6E4}">
                <adec:decorative xmlns:adec="http://schemas.microsoft.com/office/drawing/2017/decorative" val="1"/>
              </a:ext>
            </a:extLst>
          </p:cNvPr>
          <p:cNvCxnSpPr>
            <a:cxnSpLocks/>
          </p:cNvCxnSpPr>
          <p:nvPr/>
        </p:nvCxnSpPr>
        <p:spPr>
          <a:xfrm>
            <a:off x="4458121" y="443422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grpSp>
        <p:nvGrpSpPr>
          <p:cNvPr id="58" name="Group 57" descr="Icon Doctor">
            <a:extLst>
              <a:ext uri="{FF2B5EF4-FFF2-40B4-BE49-F238E27FC236}">
                <a16:creationId xmlns:a16="http://schemas.microsoft.com/office/drawing/2014/main" id="{E9DBD697-D950-4E35-9DE5-A0C834127864}"/>
              </a:ext>
            </a:extLst>
          </p:cNvPr>
          <p:cNvGrpSpPr>
            <a:grpSpLocks noChangeAspect="1"/>
          </p:cNvGrpSpPr>
          <p:nvPr/>
        </p:nvGrpSpPr>
        <p:grpSpPr>
          <a:xfrm>
            <a:off x="8097908" y="1645408"/>
            <a:ext cx="306222" cy="372176"/>
            <a:chOff x="6939367" y="37502"/>
            <a:chExt cx="742950" cy="902969"/>
          </a:xfrm>
        </p:grpSpPr>
        <p:sp>
          <p:nvSpPr>
            <p:cNvPr id="54" name="Freeform: Shape 53">
              <a:extLst>
                <a:ext uri="{FF2B5EF4-FFF2-40B4-BE49-F238E27FC236}">
                  <a16:creationId xmlns:a16="http://schemas.microsoft.com/office/drawing/2014/main" id="{48ADB8A8-8157-4E9C-BA76-1F538C33554B}"/>
                </a:ext>
              </a:extLst>
            </p:cNvPr>
            <p:cNvSpPr/>
            <p:nvPr/>
          </p:nvSpPr>
          <p:spPr>
            <a:xfrm>
              <a:off x="7477530" y="594714"/>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chemeClr val="bg1"/>
            </a:solid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CA00A7B0-F072-47CC-9356-6E33947D7A4A}"/>
                </a:ext>
              </a:extLst>
            </p:cNvPr>
            <p:cNvSpPr/>
            <p:nvPr/>
          </p:nvSpPr>
          <p:spPr>
            <a:xfrm>
              <a:off x="6939367" y="454696"/>
              <a:ext cx="742950" cy="485775"/>
            </a:xfrm>
            <a:custGeom>
              <a:avLst/>
              <a:gdLst>
                <a:gd name="connsiteX0" fmla="*/ 556260 w 742950"/>
                <a:gd name="connsiteY0" fmla="*/ 0 h 485775"/>
                <a:gd name="connsiteX1" fmla="*/ 531495 w 742950"/>
                <a:gd name="connsiteY1" fmla="*/ 19050 h 485775"/>
                <a:gd name="connsiteX2" fmla="*/ 581025 w 742950"/>
                <a:gd name="connsiteY2" fmla="*/ 112395 h 485775"/>
                <a:gd name="connsiteX3" fmla="*/ 625793 w 742950"/>
                <a:gd name="connsiteY3" fmla="*/ 168593 h 485775"/>
                <a:gd name="connsiteX4" fmla="*/ 567690 w 742950"/>
                <a:gd name="connsiteY4" fmla="*/ 226695 h 485775"/>
                <a:gd name="connsiteX5" fmla="*/ 509587 w 742950"/>
                <a:gd name="connsiteY5" fmla="*/ 168593 h 485775"/>
                <a:gd name="connsiteX6" fmla="*/ 551498 w 742950"/>
                <a:gd name="connsiteY6" fmla="*/ 113348 h 485775"/>
                <a:gd name="connsiteX7" fmla="*/ 505778 w 742950"/>
                <a:gd name="connsiteY7" fmla="*/ 35243 h 485775"/>
                <a:gd name="connsiteX8" fmla="*/ 376237 w 742950"/>
                <a:gd name="connsiteY8" fmla="*/ 67628 h 485775"/>
                <a:gd name="connsiteX9" fmla="*/ 250508 w 742950"/>
                <a:gd name="connsiteY9" fmla="*/ 37148 h 485775"/>
                <a:gd name="connsiteX10" fmla="*/ 204787 w 742950"/>
                <a:gd name="connsiteY10" fmla="*/ 168593 h 485775"/>
                <a:gd name="connsiteX11" fmla="*/ 290512 w 742950"/>
                <a:gd name="connsiteY11" fmla="*/ 269558 h 485775"/>
                <a:gd name="connsiteX12" fmla="*/ 290512 w 742950"/>
                <a:gd name="connsiteY12" fmla="*/ 337185 h 485775"/>
                <a:gd name="connsiteX13" fmla="*/ 275273 w 742950"/>
                <a:gd name="connsiteY13" fmla="*/ 352425 h 485775"/>
                <a:gd name="connsiteX14" fmla="*/ 228600 w 742950"/>
                <a:gd name="connsiteY14" fmla="*/ 352425 h 485775"/>
                <a:gd name="connsiteX15" fmla="*/ 213360 w 742950"/>
                <a:gd name="connsiteY15" fmla="*/ 337185 h 485775"/>
                <a:gd name="connsiteX16" fmla="*/ 228600 w 742950"/>
                <a:gd name="connsiteY16" fmla="*/ 321945 h 485775"/>
                <a:gd name="connsiteX17" fmla="*/ 260985 w 742950"/>
                <a:gd name="connsiteY17" fmla="*/ 321945 h 485775"/>
                <a:gd name="connsiteX18" fmla="*/ 260985 w 742950"/>
                <a:gd name="connsiteY18" fmla="*/ 268605 h 485775"/>
                <a:gd name="connsiteX19" fmla="*/ 188595 w 742950"/>
                <a:gd name="connsiteY19" fmla="*/ 196215 h 485775"/>
                <a:gd name="connsiteX20" fmla="*/ 116205 w 742950"/>
                <a:gd name="connsiteY20" fmla="*/ 268605 h 485775"/>
                <a:gd name="connsiteX21" fmla="*/ 116205 w 742950"/>
                <a:gd name="connsiteY21" fmla="*/ 321945 h 485775"/>
                <a:gd name="connsiteX22" fmla="*/ 148590 w 742950"/>
                <a:gd name="connsiteY22" fmla="*/ 321945 h 485775"/>
                <a:gd name="connsiteX23" fmla="*/ 163830 w 742950"/>
                <a:gd name="connsiteY23" fmla="*/ 337185 h 485775"/>
                <a:gd name="connsiteX24" fmla="*/ 148590 w 742950"/>
                <a:gd name="connsiteY24" fmla="*/ 352425 h 485775"/>
                <a:gd name="connsiteX25" fmla="*/ 100965 w 742950"/>
                <a:gd name="connsiteY25" fmla="*/ 352425 h 485775"/>
                <a:gd name="connsiteX26" fmla="*/ 85725 w 742950"/>
                <a:gd name="connsiteY26" fmla="*/ 337185 h 485775"/>
                <a:gd name="connsiteX27" fmla="*/ 85725 w 742950"/>
                <a:gd name="connsiteY27" fmla="*/ 269558 h 485775"/>
                <a:gd name="connsiteX28" fmla="*/ 174308 w 742950"/>
                <a:gd name="connsiteY28" fmla="*/ 168593 h 485775"/>
                <a:gd name="connsiteX29" fmla="*/ 223837 w 742950"/>
                <a:gd name="connsiteY29" fmla="*/ 21907 h 485775"/>
                <a:gd name="connsiteX30" fmla="*/ 194310 w 742950"/>
                <a:gd name="connsiteY30" fmla="*/ 0 h 485775"/>
                <a:gd name="connsiteX31" fmla="*/ 0 w 742950"/>
                <a:gd name="connsiteY31" fmla="*/ 259080 h 485775"/>
                <a:gd name="connsiteX32" fmla="*/ 0 w 742950"/>
                <a:gd name="connsiteY32" fmla="*/ 429578 h 485775"/>
                <a:gd name="connsiteX33" fmla="*/ 58103 w 742950"/>
                <a:gd name="connsiteY33" fmla="*/ 487680 h 485775"/>
                <a:gd name="connsiteX34" fmla="*/ 693420 w 742950"/>
                <a:gd name="connsiteY34" fmla="*/ 487680 h 485775"/>
                <a:gd name="connsiteX35" fmla="*/ 751523 w 742950"/>
                <a:gd name="connsiteY35" fmla="*/ 429578 h 485775"/>
                <a:gd name="connsiteX36" fmla="*/ 751523 w 742950"/>
                <a:gd name="connsiteY36" fmla="*/ 259080 h 485775"/>
                <a:gd name="connsiteX37" fmla="*/ 556260 w 742950"/>
                <a:gd name="connsiteY37" fmla="*/ 0 h 485775"/>
                <a:gd name="connsiteX38" fmla="*/ 549593 w 742950"/>
                <a:gd name="connsiteY38" fmla="*/ 366713 h 485775"/>
                <a:gd name="connsiteX39" fmla="*/ 541020 w 742950"/>
                <a:gd name="connsiteY39" fmla="*/ 375285 h 485775"/>
                <a:gd name="connsiteX40" fmla="*/ 502920 w 742950"/>
                <a:gd name="connsiteY40" fmla="*/ 375285 h 485775"/>
                <a:gd name="connsiteX41" fmla="*/ 502920 w 742950"/>
                <a:gd name="connsiteY41" fmla="*/ 414338 h 485775"/>
                <a:gd name="connsiteX42" fmla="*/ 494348 w 742950"/>
                <a:gd name="connsiteY42" fmla="*/ 422910 h 485775"/>
                <a:gd name="connsiteX43" fmla="*/ 461010 w 742950"/>
                <a:gd name="connsiteY43" fmla="*/ 422910 h 485775"/>
                <a:gd name="connsiteX44" fmla="*/ 452437 w 742950"/>
                <a:gd name="connsiteY44" fmla="*/ 414338 h 485775"/>
                <a:gd name="connsiteX45" fmla="*/ 452437 w 742950"/>
                <a:gd name="connsiteY45" fmla="*/ 375285 h 485775"/>
                <a:gd name="connsiteX46" fmla="*/ 414337 w 742950"/>
                <a:gd name="connsiteY46" fmla="*/ 375285 h 485775"/>
                <a:gd name="connsiteX47" fmla="*/ 405765 w 742950"/>
                <a:gd name="connsiteY47" fmla="*/ 366713 h 485775"/>
                <a:gd name="connsiteX48" fmla="*/ 405765 w 742950"/>
                <a:gd name="connsiteY48" fmla="*/ 332422 h 485775"/>
                <a:gd name="connsiteX49" fmla="*/ 414337 w 742950"/>
                <a:gd name="connsiteY49" fmla="*/ 323850 h 485775"/>
                <a:gd name="connsiteX50" fmla="*/ 452437 w 742950"/>
                <a:gd name="connsiteY50" fmla="*/ 323850 h 485775"/>
                <a:gd name="connsiteX51" fmla="*/ 452437 w 742950"/>
                <a:gd name="connsiteY51" fmla="*/ 284797 h 485775"/>
                <a:gd name="connsiteX52" fmla="*/ 461010 w 742950"/>
                <a:gd name="connsiteY52" fmla="*/ 276225 h 485775"/>
                <a:gd name="connsiteX53" fmla="*/ 494348 w 742950"/>
                <a:gd name="connsiteY53" fmla="*/ 276225 h 485775"/>
                <a:gd name="connsiteX54" fmla="*/ 502920 w 742950"/>
                <a:gd name="connsiteY54" fmla="*/ 284797 h 485775"/>
                <a:gd name="connsiteX55" fmla="*/ 502920 w 742950"/>
                <a:gd name="connsiteY55" fmla="*/ 323850 h 485775"/>
                <a:gd name="connsiteX56" fmla="*/ 541020 w 742950"/>
                <a:gd name="connsiteY56" fmla="*/ 323850 h 485775"/>
                <a:gd name="connsiteX57" fmla="*/ 549593 w 742950"/>
                <a:gd name="connsiteY57" fmla="*/ 332422 h 485775"/>
                <a:gd name="connsiteX58" fmla="*/ 549593 w 742950"/>
                <a:gd name="connsiteY58" fmla="*/ 36671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2950" h="485775">
                  <a:moveTo>
                    <a:pt x="556260" y="0"/>
                  </a:moveTo>
                  <a:cubicBezTo>
                    <a:pt x="548640" y="7620"/>
                    <a:pt x="540068" y="13335"/>
                    <a:pt x="531495" y="19050"/>
                  </a:cubicBezTo>
                  <a:cubicBezTo>
                    <a:pt x="550545" y="39053"/>
                    <a:pt x="575310" y="73343"/>
                    <a:pt x="581025" y="112395"/>
                  </a:cubicBezTo>
                  <a:cubicBezTo>
                    <a:pt x="606743" y="118110"/>
                    <a:pt x="625793" y="141923"/>
                    <a:pt x="625793" y="168593"/>
                  </a:cubicBezTo>
                  <a:cubicBezTo>
                    <a:pt x="625793" y="200978"/>
                    <a:pt x="600075" y="226695"/>
                    <a:pt x="567690" y="226695"/>
                  </a:cubicBezTo>
                  <a:cubicBezTo>
                    <a:pt x="535305" y="226695"/>
                    <a:pt x="509587" y="200978"/>
                    <a:pt x="509587" y="168593"/>
                  </a:cubicBezTo>
                  <a:cubicBezTo>
                    <a:pt x="509587" y="142875"/>
                    <a:pt x="527685" y="120015"/>
                    <a:pt x="551498" y="113348"/>
                  </a:cubicBezTo>
                  <a:cubicBezTo>
                    <a:pt x="545783" y="80963"/>
                    <a:pt x="521970" y="51435"/>
                    <a:pt x="505778" y="35243"/>
                  </a:cubicBezTo>
                  <a:cubicBezTo>
                    <a:pt x="466725" y="56198"/>
                    <a:pt x="422910" y="67628"/>
                    <a:pt x="376237" y="67628"/>
                  </a:cubicBezTo>
                  <a:cubicBezTo>
                    <a:pt x="331470" y="67628"/>
                    <a:pt x="288608" y="56198"/>
                    <a:pt x="250508" y="37148"/>
                  </a:cubicBezTo>
                  <a:cubicBezTo>
                    <a:pt x="234315" y="61913"/>
                    <a:pt x="208598" y="110490"/>
                    <a:pt x="204787" y="168593"/>
                  </a:cubicBezTo>
                  <a:cubicBezTo>
                    <a:pt x="253365" y="176213"/>
                    <a:pt x="290512" y="218122"/>
                    <a:pt x="290512" y="269558"/>
                  </a:cubicBezTo>
                  <a:lnTo>
                    <a:pt x="290512" y="337185"/>
                  </a:lnTo>
                  <a:cubicBezTo>
                    <a:pt x="290512" y="345758"/>
                    <a:pt x="283845" y="352425"/>
                    <a:pt x="275273" y="352425"/>
                  </a:cubicBezTo>
                  <a:lnTo>
                    <a:pt x="228600" y="352425"/>
                  </a:lnTo>
                  <a:cubicBezTo>
                    <a:pt x="220028" y="352425"/>
                    <a:pt x="213360" y="345758"/>
                    <a:pt x="213360" y="337185"/>
                  </a:cubicBezTo>
                  <a:cubicBezTo>
                    <a:pt x="213360" y="328613"/>
                    <a:pt x="220028" y="321945"/>
                    <a:pt x="228600" y="321945"/>
                  </a:cubicBezTo>
                  <a:lnTo>
                    <a:pt x="260985" y="321945"/>
                  </a:lnTo>
                  <a:lnTo>
                    <a:pt x="260985" y="268605"/>
                  </a:lnTo>
                  <a:cubicBezTo>
                    <a:pt x="260985" y="228600"/>
                    <a:pt x="228600" y="196215"/>
                    <a:pt x="188595" y="196215"/>
                  </a:cubicBezTo>
                  <a:cubicBezTo>
                    <a:pt x="148590" y="196215"/>
                    <a:pt x="116205" y="228600"/>
                    <a:pt x="116205" y="268605"/>
                  </a:cubicBezTo>
                  <a:lnTo>
                    <a:pt x="116205" y="321945"/>
                  </a:lnTo>
                  <a:lnTo>
                    <a:pt x="148590" y="321945"/>
                  </a:lnTo>
                  <a:cubicBezTo>
                    <a:pt x="157163" y="321945"/>
                    <a:pt x="163830" y="328613"/>
                    <a:pt x="163830" y="337185"/>
                  </a:cubicBezTo>
                  <a:cubicBezTo>
                    <a:pt x="163830" y="345758"/>
                    <a:pt x="157163" y="352425"/>
                    <a:pt x="148590" y="352425"/>
                  </a:cubicBezTo>
                  <a:lnTo>
                    <a:pt x="100965" y="352425"/>
                  </a:lnTo>
                  <a:cubicBezTo>
                    <a:pt x="92392" y="352425"/>
                    <a:pt x="85725" y="345758"/>
                    <a:pt x="85725" y="337185"/>
                  </a:cubicBezTo>
                  <a:lnTo>
                    <a:pt x="85725" y="269558"/>
                  </a:lnTo>
                  <a:cubicBezTo>
                    <a:pt x="85725" y="218122"/>
                    <a:pt x="123825" y="175260"/>
                    <a:pt x="174308" y="168593"/>
                  </a:cubicBezTo>
                  <a:cubicBezTo>
                    <a:pt x="178117" y="102870"/>
                    <a:pt x="205740" y="50482"/>
                    <a:pt x="223837" y="21907"/>
                  </a:cubicBezTo>
                  <a:cubicBezTo>
                    <a:pt x="213360" y="15240"/>
                    <a:pt x="203835" y="8573"/>
                    <a:pt x="194310" y="0"/>
                  </a:cubicBezTo>
                  <a:cubicBezTo>
                    <a:pt x="81915" y="33338"/>
                    <a:pt x="0" y="137160"/>
                    <a:pt x="0" y="259080"/>
                  </a:cubicBezTo>
                  <a:lnTo>
                    <a:pt x="0" y="429578"/>
                  </a:lnTo>
                  <a:cubicBezTo>
                    <a:pt x="0" y="461963"/>
                    <a:pt x="25717" y="487680"/>
                    <a:pt x="58103" y="487680"/>
                  </a:cubicBezTo>
                  <a:lnTo>
                    <a:pt x="693420" y="487680"/>
                  </a:lnTo>
                  <a:cubicBezTo>
                    <a:pt x="725805" y="487680"/>
                    <a:pt x="751523" y="461963"/>
                    <a:pt x="751523" y="429578"/>
                  </a:cubicBezTo>
                  <a:lnTo>
                    <a:pt x="751523" y="259080"/>
                  </a:lnTo>
                  <a:cubicBezTo>
                    <a:pt x="750570" y="136208"/>
                    <a:pt x="668655" y="32385"/>
                    <a:pt x="556260" y="0"/>
                  </a:cubicBezTo>
                  <a:close/>
                  <a:moveTo>
                    <a:pt x="549593" y="366713"/>
                  </a:moveTo>
                  <a:cubicBezTo>
                    <a:pt x="549593" y="371475"/>
                    <a:pt x="545783" y="375285"/>
                    <a:pt x="541020" y="375285"/>
                  </a:cubicBezTo>
                  <a:lnTo>
                    <a:pt x="502920" y="375285"/>
                  </a:lnTo>
                  <a:lnTo>
                    <a:pt x="502920" y="414338"/>
                  </a:lnTo>
                  <a:cubicBezTo>
                    <a:pt x="502920" y="419100"/>
                    <a:pt x="499110" y="422910"/>
                    <a:pt x="494348" y="422910"/>
                  </a:cubicBezTo>
                  <a:lnTo>
                    <a:pt x="461010" y="422910"/>
                  </a:lnTo>
                  <a:cubicBezTo>
                    <a:pt x="456248" y="422910"/>
                    <a:pt x="452437" y="419100"/>
                    <a:pt x="452437" y="414338"/>
                  </a:cubicBezTo>
                  <a:lnTo>
                    <a:pt x="452437" y="375285"/>
                  </a:lnTo>
                  <a:lnTo>
                    <a:pt x="414337" y="375285"/>
                  </a:lnTo>
                  <a:cubicBezTo>
                    <a:pt x="409575" y="375285"/>
                    <a:pt x="405765" y="371475"/>
                    <a:pt x="405765" y="366713"/>
                  </a:cubicBezTo>
                  <a:lnTo>
                    <a:pt x="405765" y="332422"/>
                  </a:lnTo>
                  <a:cubicBezTo>
                    <a:pt x="405765" y="327660"/>
                    <a:pt x="409575" y="323850"/>
                    <a:pt x="414337" y="323850"/>
                  </a:cubicBezTo>
                  <a:lnTo>
                    <a:pt x="452437" y="323850"/>
                  </a:lnTo>
                  <a:lnTo>
                    <a:pt x="452437" y="284797"/>
                  </a:lnTo>
                  <a:cubicBezTo>
                    <a:pt x="452437" y="280035"/>
                    <a:pt x="456248" y="276225"/>
                    <a:pt x="461010" y="276225"/>
                  </a:cubicBezTo>
                  <a:lnTo>
                    <a:pt x="494348" y="276225"/>
                  </a:lnTo>
                  <a:cubicBezTo>
                    <a:pt x="499110" y="276225"/>
                    <a:pt x="502920" y="280035"/>
                    <a:pt x="502920" y="284797"/>
                  </a:cubicBezTo>
                  <a:lnTo>
                    <a:pt x="502920" y="323850"/>
                  </a:lnTo>
                  <a:lnTo>
                    <a:pt x="541020" y="323850"/>
                  </a:lnTo>
                  <a:cubicBezTo>
                    <a:pt x="545783" y="323850"/>
                    <a:pt x="549593" y="327660"/>
                    <a:pt x="549593" y="332422"/>
                  </a:cubicBezTo>
                  <a:lnTo>
                    <a:pt x="549593" y="366713"/>
                  </a:lnTo>
                  <a:close/>
                </a:path>
              </a:pathLst>
            </a:custGeom>
            <a:solidFill>
              <a:schemeClr val="bg1"/>
            </a:solid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39EAB1B9-6D19-49E6-B4AE-5D32BC38E444}"/>
                </a:ext>
              </a:extLst>
            </p:cNvPr>
            <p:cNvSpPr/>
            <p:nvPr/>
          </p:nvSpPr>
          <p:spPr>
            <a:xfrm>
              <a:off x="7104150" y="37502"/>
              <a:ext cx="419100" cy="419100"/>
            </a:xfrm>
            <a:custGeom>
              <a:avLst/>
              <a:gdLst>
                <a:gd name="connsiteX0" fmla="*/ 421005 w 419100"/>
                <a:gd name="connsiteY0" fmla="*/ 210503 h 419100"/>
                <a:gd name="connsiteX1" fmla="*/ 210503 w 419100"/>
                <a:gd name="connsiteY1" fmla="*/ 421005 h 419100"/>
                <a:gd name="connsiteX2" fmla="*/ 0 w 419100"/>
                <a:gd name="connsiteY2" fmla="*/ 210503 h 419100"/>
                <a:gd name="connsiteX3" fmla="*/ 210503 w 419100"/>
                <a:gd name="connsiteY3" fmla="*/ 0 h 419100"/>
                <a:gd name="connsiteX4" fmla="*/ 421005 w 419100"/>
                <a:gd name="connsiteY4" fmla="*/ 210503 h 419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419100">
                  <a:moveTo>
                    <a:pt x="421005" y="210503"/>
                  </a:moveTo>
                  <a:cubicBezTo>
                    <a:pt x="421005" y="326760"/>
                    <a:pt x="326760" y="421005"/>
                    <a:pt x="210503" y="421005"/>
                  </a:cubicBezTo>
                  <a:cubicBezTo>
                    <a:pt x="94245" y="421005"/>
                    <a:pt x="0" y="326760"/>
                    <a:pt x="0" y="210503"/>
                  </a:cubicBezTo>
                  <a:cubicBezTo>
                    <a:pt x="0" y="94245"/>
                    <a:pt x="94245" y="0"/>
                    <a:pt x="210503" y="0"/>
                  </a:cubicBezTo>
                  <a:cubicBezTo>
                    <a:pt x="326760" y="0"/>
                    <a:pt x="421005" y="94245"/>
                    <a:pt x="421005" y="210503"/>
                  </a:cubicBezTo>
                  <a:close/>
                </a:path>
              </a:pathLst>
            </a:custGeom>
            <a:solidFill>
              <a:schemeClr val="bg1"/>
            </a:solidFill>
            <a:ln w="9525" cap="flat">
              <a:noFill/>
              <a:prstDash val="solid"/>
              <a:miter/>
            </a:ln>
          </p:spPr>
          <p:txBody>
            <a:bodyPr rtlCol="0" anchor="ctr"/>
            <a:lstStyle/>
            <a:p>
              <a:endParaRPr lang="en-US" dirty="0"/>
            </a:p>
          </p:txBody>
        </p:sp>
      </p:grpSp>
      <p:pic>
        <p:nvPicPr>
          <p:cNvPr id="15" name="Graphic 14" descr="Research with solid fill">
            <a:extLst>
              <a:ext uri="{FF2B5EF4-FFF2-40B4-BE49-F238E27FC236}">
                <a16:creationId xmlns:a16="http://schemas.microsoft.com/office/drawing/2014/main" id="{D1E475AA-92D9-ABEB-AC05-61EBAA4E18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2406" y="1618891"/>
            <a:ext cx="417267" cy="417267"/>
          </a:xfrm>
          <a:prstGeom prst="rect">
            <a:avLst/>
          </a:prstGeom>
        </p:spPr>
      </p:pic>
      <p:pic>
        <p:nvPicPr>
          <p:cNvPr id="17" name="Graphic 16" descr="Head with gears with solid fill">
            <a:extLst>
              <a:ext uri="{FF2B5EF4-FFF2-40B4-BE49-F238E27FC236}">
                <a16:creationId xmlns:a16="http://schemas.microsoft.com/office/drawing/2014/main" id="{8162D56E-00A9-42B7-822E-11DE3E9921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13671" y="1630307"/>
            <a:ext cx="420624" cy="420624"/>
          </a:xfrm>
          <a:prstGeom prst="rect">
            <a:avLst/>
          </a:prstGeom>
        </p:spPr>
      </p:pic>
      <p:pic>
        <p:nvPicPr>
          <p:cNvPr id="21" name="Graphic 20" descr="Decision chart with solid fill">
            <a:extLst>
              <a:ext uri="{FF2B5EF4-FFF2-40B4-BE49-F238E27FC236}">
                <a16:creationId xmlns:a16="http://schemas.microsoft.com/office/drawing/2014/main" id="{2D51DA4D-A3C2-20F6-44B4-0812343D1F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0727" y="3767235"/>
            <a:ext cx="420624" cy="420624"/>
          </a:xfrm>
          <a:prstGeom prst="rect">
            <a:avLst/>
          </a:prstGeom>
        </p:spPr>
      </p:pic>
      <p:pic>
        <p:nvPicPr>
          <p:cNvPr id="23" name="Graphic 22" descr="Clipboard Badge with solid fill">
            <a:extLst>
              <a:ext uri="{FF2B5EF4-FFF2-40B4-BE49-F238E27FC236}">
                <a16:creationId xmlns:a16="http://schemas.microsoft.com/office/drawing/2014/main" id="{4D8F7E93-C26E-549E-7A54-F2C4CBCAD2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79302" y="3754961"/>
            <a:ext cx="420624" cy="420624"/>
          </a:xfrm>
          <a:prstGeom prst="rect">
            <a:avLst/>
          </a:prstGeom>
        </p:spPr>
      </p:pic>
      <p:sp>
        <p:nvSpPr>
          <p:cNvPr id="2" name="Footer Placeholder 1">
            <a:extLst>
              <a:ext uri="{FF2B5EF4-FFF2-40B4-BE49-F238E27FC236}">
                <a16:creationId xmlns:a16="http://schemas.microsoft.com/office/drawing/2014/main" id="{2D1CE842-8D8A-F110-430F-AFDCC09428CA}"/>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175583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BD797-D5BD-031E-CF90-C9D3FD616B6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3CAA30-521A-8A20-649B-668EBA63EB30}"/>
              </a:ext>
            </a:extLst>
          </p:cNvPr>
          <p:cNvSpPr>
            <a:spLocks noGrp="1"/>
          </p:cNvSpPr>
          <p:nvPr>
            <p:ph type="sldNum" sz="quarter" idx="11"/>
          </p:nvPr>
        </p:nvSpPr>
        <p:spPr/>
        <p:txBody>
          <a:bodyPr/>
          <a:lstStyle/>
          <a:p>
            <a:fld id="{EECC7194-A4D0-457B-9D3E-53681723AFF7}" type="slidenum">
              <a:rPr lang="en-US" smtClean="0"/>
              <a:pPr/>
              <a:t>8</a:t>
            </a:fld>
            <a:endParaRPr lang="en-US" dirty="0"/>
          </a:p>
        </p:txBody>
      </p:sp>
      <p:pic>
        <p:nvPicPr>
          <p:cNvPr id="10" name="Picture 9">
            <a:extLst>
              <a:ext uri="{FF2B5EF4-FFF2-40B4-BE49-F238E27FC236}">
                <a16:creationId xmlns:a16="http://schemas.microsoft.com/office/drawing/2014/main" id="{08C707E1-B55A-C7FD-C6F2-67AD24C16ED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0444" y="484094"/>
            <a:ext cx="10598874" cy="5757669"/>
          </a:xfrm>
          <a:prstGeom prst="rect">
            <a:avLst/>
          </a:prstGeom>
        </p:spPr>
      </p:pic>
      <p:sp>
        <p:nvSpPr>
          <p:cNvPr id="2" name="Footer Placeholder 1">
            <a:extLst>
              <a:ext uri="{FF2B5EF4-FFF2-40B4-BE49-F238E27FC236}">
                <a16:creationId xmlns:a16="http://schemas.microsoft.com/office/drawing/2014/main" id="{58E395DB-3859-EF2C-E245-185C267D3B75}"/>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2154587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48709-5DF1-223C-1B2F-3BDED15CF96F}"/>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46C1277F-C758-2E52-DA58-084F0434CE1A}"/>
              </a:ext>
            </a:extLst>
          </p:cNvPr>
          <p:cNvSpPr>
            <a:spLocks noGrp="1"/>
          </p:cNvSpPr>
          <p:nvPr>
            <p:ph type="body" sz="quarter" idx="12"/>
          </p:nvPr>
        </p:nvSpPr>
        <p:spPr>
          <a:xfrm>
            <a:off x="684214" y="1280160"/>
            <a:ext cx="10891550" cy="5232078"/>
          </a:xfrm>
        </p:spPr>
        <p:txBody>
          <a:bodyPr/>
          <a:lstStyle/>
          <a:p>
            <a:pPr marL="342900" indent="-342900">
              <a:buFont typeface="+mj-lt"/>
              <a:buAutoNum type="arabicPeriod"/>
            </a:pPr>
            <a:r>
              <a:rPr lang="en-US" sz="1600" b="1" dirty="0"/>
              <a:t>CQL Development &amp; Adoption (2017-Present)</a:t>
            </a:r>
          </a:p>
          <a:p>
            <a:pPr marL="790575" lvl="1" indent="-342900">
              <a:buFont typeface="Arial" panose="020B0604020202020204" pitchFamily="34" charset="0"/>
              <a:buChar char="•"/>
            </a:pPr>
            <a:r>
              <a:rPr lang="en-US" sz="1600" b="1" dirty="0"/>
              <a:t>2017</a:t>
            </a:r>
            <a:r>
              <a:rPr lang="en-US" sz="1600" dirty="0"/>
              <a:t>: The Centers for Medicare &amp; Medicaid Services (CMS) and the Office of the National Coordinator for Health IT (ONC) endorsed CQL as the standard for expressing electronic clinical quality measures (eCQMs).</a:t>
            </a:r>
          </a:p>
          <a:p>
            <a:pPr marL="790575" lvl="1" indent="-342900">
              <a:buFont typeface="Arial" panose="020B0604020202020204" pitchFamily="34" charset="0"/>
              <a:buChar char="•"/>
            </a:pPr>
            <a:r>
              <a:rPr lang="en-US" sz="1600" b="1" dirty="0"/>
              <a:t>2019-2020</a:t>
            </a:r>
            <a:r>
              <a:rPr lang="en-US" sz="1600" dirty="0"/>
              <a:t>: CQL became the official standard for eCQMs used in CMS quality reporting programs, replacing the earlier Quality Data Model (QDM)-based logic.</a:t>
            </a:r>
          </a:p>
          <a:p>
            <a:pPr marL="790575" lvl="1" indent="-342900">
              <a:buFont typeface="Arial" panose="020B0604020202020204" pitchFamily="34" charset="0"/>
              <a:buChar char="•"/>
            </a:pPr>
            <a:r>
              <a:rPr lang="en-US" sz="1600" b="1" dirty="0"/>
              <a:t>2021-Present</a:t>
            </a:r>
            <a:r>
              <a:rPr lang="en-US" sz="1600" dirty="0"/>
              <a:t>: Widespread industry adoption with continued refinement, aligning CQL with FHIR.</a:t>
            </a:r>
          </a:p>
          <a:p>
            <a:pPr marL="790575" lvl="1" indent="-342900">
              <a:buFont typeface="Arial" panose="020B0604020202020204" pitchFamily="34" charset="0"/>
              <a:buChar char="•"/>
            </a:pPr>
            <a:endParaRPr lang="en-US" sz="1600" dirty="0"/>
          </a:p>
          <a:p>
            <a:pPr marL="342900" indent="-342900">
              <a:buFont typeface="+mj-lt"/>
              <a:buAutoNum type="arabicPeriod" startAt="2"/>
            </a:pPr>
            <a:r>
              <a:rPr lang="en-US" sz="1600" b="1" dirty="0"/>
              <a:t>FHIR &amp; dQMs Evolution (2020-Present)</a:t>
            </a:r>
          </a:p>
          <a:p>
            <a:pPr marL="790575" lvl="1" indent="-342900">
              <a:buFont typeface="Arial" panose="020B0604020202020204" pitchFamily="34" charset="0"/>
              <a:buChar char="•"/>
            </a:pPr>
            <a:r>
              <a:rPr lang="en-US" sz="1600" b="1" dirty="0"/>
              <a:t>2020</a:t>
            </a:r>
            <a:r>
              <a:rPr lang="en-US" sz="1600" dirty="0"/>
              <a:t>: The shift toward FHIR-based quality measurement began gaining traction with initiatives like the FHIR-based Quality Measure Implementation Guide (IG) developed by HL7.</a:t>
            </a:r>
          </a:p>
          <a:p>
            <a:pPr marL="790575" lvl="1" indent="-342900">
              <a:buFont typeface="Arial" panose="020B0604020202020204" pitchFamily="34" charset="0"/>
              <a:buChar char="•"/>
            </a:pPr>
            <a:r>
              <a:rPr lang="en-US" sz="1600" b="1" dirty="0"/>
              <a:t>2021</a:t>
            </a:r>
            <a:r>
              <a:rPr lang="en-US" sz="1600" dirty="0"/>
              <a:t>: CMS announced the move toward dQMs, emphasizing digital transformation in quality measurement.</a:t>
            </a:r>
          </a:p>
          <a:p>
            <a:pPr marL="790575" lvl="1" indent="-342900">
              <a:buFont typeface="Arial" panose="020B0604020202020204" pitchFamily="34" charset="0"/>
              <a:buChar char="•"/>
            </a:pPr>
            <a:r>
              <a:rPr lang="en-US" sz="1600" b="1" dirty="0"/>
              <a:t>2022</a:t>
            </a:r>
            <a:r>
              <a:rPr lang="en-US" sz="1600" dirty="0"/>
              <a:t>: CMS defined dQMs as measures leveraging FHIR-based interoperability standards, aiming to fully transition by the mid-2020s.</a:t>
            </a:r>
          </a:p>
          <a:p>
            <a:pPr marL="790575" lvl="1" indent="-342900">
              <a:buFont typeface="Arial" panose="020B0604020202020204" pitchFamily="34" charset="0"/>
              <a:buChar char="•"/>
            </a:pPr>
            <a:r>
              <a:rPr lang="en-US" sz="1600" b="1" dirty="0"/>
              <a:t>2023</a:t>
            </a:r>
            <a:r>
              <a:rPr lang="en-US" sz="1600" dirty="0"/>
              <a:t>: Continued pilot testing of FHIR-based dQMs in programs like MIPS, Hospital Quality Reporting, and ACO models.</a:t>
            </a:r>
          </a:p>
          <a:p>
            <a:pPr marL="790575" lvl="1" indent="-342900">
              <a:buFont typeface="Arial" panose="020B0604020202020204" pitchFamily="34" charset="0"/>
              <a:buChar char="•"/>
            </a:pPr>
            <a:r>
              <a:rPr lang="en-US" sz="1600" b="1" dirty="0"/>
              <a:t>2024-2025</a:t>
            </a:r>
            <a:r>
              <a:rPr lang="en-US" sz="1600" dirty="0"/>
              <a:t>: CMS is targeting full implementation of FHIR-based dQMs, replacing older eCQM formats.</a:t>
            </a:r>
            <a:endParaRPr lang="en-US" sz="9600" dirty="0"/>
          </a:p>
        </p:txBody>
      </p:sp>
      <p:sp>
        <p:nvSpPr>
          <p:cNvPr id="4" name="Slide Number Placeholder 3">
            <a:extLst>
              <a:ext uri="{FF2B5EF4-FFF2-40B4-BE49-F238E27FC236}">
                <a16:creationId xmlns:a16="http://schemas.microsoft.com/office/drawing/2014/main" id="{ADC8713D-13DA-E693-D2ED-4BA10AABD905}"/>
              </a:ext>
            </a:extLst>
          </p:cNvPr>
          <p:cNvSpPr>
            <a:spLocks noGrp="1"/>
          </p:cNvSpPr>
          <p:nvPr>
            <p:ph type="sldNum" sz="quarter" idx="11"/>
          </p:nvPr>
        </p:nvSpPr>
        <p:spPr/>
        <p:txBody>
          <a:bodyPr/>
          <a:lstStyle/>
          <a:p>
            <a:fld id="{EECC7194-A4D0-457B-9D3E-53681723AFF7}" type="slidenum">
              <a:rPr lang="en-US" smtClean="0"/>
              <a:pPr/>
              <a:t>9</a:t>
            </a:fld>
            <a:endParaRPr lang="en-US" dirty="0"/>
          </a:p>
        </p:txBody>
      </p:sp>
      <p:sp>
        <p:nvSpPr>
          <p:cNvPr id="6" name="Title 5">
            <a:extLst>
              <a:ext uri="{FF2B5EF4-FFF2-40B4-BE49-F238E27FC236}">
                <a16:creationId xmlns:a16="http://schemas.microsoft.com/office/drawing/2014/main" id="{01C2E228-C37C-A439-8624-E65FB8BA6AE6}"/>
              </a:ext>
            </a:extLst>
          </p:cNvPr>
          <p:cNvSpPr>
            <a:spLocks noGrp="1"/>
          </p:cNvSpPr>
          <p:nvPr>
            <p:ph type="title"/>
          </p:nvPr>
        </p:nvSpPr>
        <p:spPr>
          <a:xfrm>
            <a:off x="684000" y="338328"/>
            <a:ext cx="5098021" cy="556194"/>
          </a:xfrm>
        </p:spPr>
        <p:txBody>
          <a:bodyPr/>
          <a:lstStyle/>
          <a:p>
            <a:r>
              <a:rPr lang="en-US" cap="none" dirty="0"/>
              <a:t>Key Milestones &amp; Timeline</a:t>
            </a:r>
          </a:p>
        </p:txBody>
      </p:sp>
      <p:sp>
        <p:nvSpPr>
          <p:cNvPr id="2" name="Footer Placeholder 1">
            <a:extLst>
              <a:ext uri="{FF2B5EF4-FFF2-40B4-BE49-F238E27FC236}">
                <a16:creationId xmlns:a16="http://schemas.microsoft.com/office/drawing/2014/main" id="{2611A629-0F15-FD78-C218-A085A1681519}"/>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3893320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DEEC7-77EF-FE4A-2FF1-141FCB1E57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5DDAB1-696C-F601-BFE7-1C5161B845EB}"/>
              </a:ext>
            </a:extLst>
          </p:cNvPr>
          <p:cNvSpPr>
            <a:spLocks noGrp="1"/>
          </p:cNvSpPr>
          <p:nvPr>
            <p:ph type="sldNum" sz="quarter" idx="11"/>
          </p:nvPr>
        </p:nvSpPr>
        <p:spPr/>
        <p:txBody>
          <a:bodyPr/>
          <a:lstStyle/>
          <a:p>
            <a:fld id="{EECC7194-A4D0-457B-9D3E-53681723AFF7}" type="slidenum">
              <a:rPr lang="en-US" smtClean="0"/>
              <a:pPr/>
              <a:t>10</a:t>
            </a:fld>
            <a:endParaRPr lang="en-US" dirty="0"/>
          </a:p>
        </p:txBody>
      </p:sp>
      <p:sp>
        <p:nvSpPr>
          <p:cNvPr id="2" name="Text Placeholder 6">
            <a:extLst>
              <a:ext uri="{FF2B5EF4-FFF2-40B4-BE49-F238E27FC236}">
                <a16:creationId xmlns:a16="http://schemas.microsoft.com/office/drawing/2014/main" id="{9A4D20B7-2D06-8ED2-52BA-E10CE27BE24E}"/>
              </a:ext>
            </a:extLst>
          </p:cNvPr>
          <p:cNvSpPr txBox="1">
            <a:spLocks/>
          </p:cNvSpPr>
          <p:nvPr/>
        </p:nvSpPr>
        <p:spPr>
          <a:xfrm>
            <a:off x="685800" y="1309360"/>
            <a:ext cx="10889964" cy="493240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2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600" b="1" dirty="0"/>
              <a:t>FHIR-based dQMs are still in an implementation and refinement phase</a:t>
            </a:r>
            <a:r>
              <a:rPr lang="en-US" sz="1600" dirty="0"/>
              <a:t>, with CMS, HL7, and healthcare organizations working to fully integrate them by 2025-2027.</a:t>
            </a:r>
          </a:p>
          <a:p>
            <a:pPr marL="342900" indent="-342900">
              <a:buFont typeface="Arial" panose="020B0604020202020204" pitchFamily="34" charset="0"/>
              <a:buChar char="•"/>
            </a:pPr>
            <a:r>
              <a:rPr lang="en-US" sz="1600" b="1" dirty="0"/>
              <a:t>CQL with FHIR is actively in use</a:t>
            </a:r>
            <a:r>
              <a:rPr lang="en-US" sz="1600" dirty="0"/>
              <a:t> but continues to be updated for better alignment with evolving interoperability and quality measurement needs.</a:t>
            </a:r>
          </a:p>
          <a:p>
            <a:pPr marL="342900" indent="-342900">
              <a:buFont typeface="Arial" panose="020B0604020202020204" pitchFamily="34" charset="0"/>
              <a:buChar char="•"/>
            </a:pPr>
            <a:r>
              <a:rPr lang="en-US" sz="1600" b="1" dirty="0"/>
              <a:t>The push for automated, interoperable, and digital quality measures </a:t>
            </a:r>
            <a:r>
              <a:rPr lang="en-US" sz="1600" dirty="0"/>
              <a:t>is driven by regulatory bodies (CMS, ONC, HL7), and healthcare organizations are encouraged to adopt these standards as part of their reporting and analytics infrastructure.</a:t>
            </a:r>
            <a:endParaRPr lang="en-US" sz="4800" dirty="0"/>
          </a:p>
        </p:txBody>
      </p:sp>
      <p:sp>
        <p:nvSpPr>
          <p:cNvPr id="3" name="Title 5">
            <a:extLst>
              <a:ext uri="{FF2B5EF4-FFF2-40B4-BE49-F238E27FC236}">
                <a16:creationId xmlns:a16="http://schemas.microsoft.com/office/drawing/2014/main" id="{467F8708-B50D-A084-7640-4D03834F04B8}"/>
              </a:ext>
            </a:extLst>
          </p:cNvPr>
          <p:cNvSpPr txBox="1">
            <a:spLocks/>
          </p:cNvSpPr>
          <p:nvPr/>
        </p:nvSpPr>
        <p:spPr>
          <a:xfrm>
            <a:off x="685800" y="367528"/>
            <a:ext cx="5098021" cy="556194"/>
          </a:xfrm>
          <a:prstGeom prst="rect">
            <a:avLst/>
          </a:prstGeom>
        </p:spPr>
        <p:txBody>
          <a:bodyPr/>
          <a:lstStyle>
            <a:lvl1pPr algn="l" defTabSz="914400" rtl="0" eaLnBrk="1" latinLnBrk="0" hangingPunct="1">
              <a:lnSpc>
                <a:spcPct val="90000"/>
              </a:lnSpc>
              <a:spcBef>
                <a:spcPct val="0"/>
              </a:spcBef>
              <a:buNone/>
              <a:defRPr sz="3200" b="1" kern="1200" cap="none" spc="-150" baseline="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Current State &amp; Future Direction</a:t>
            </a:r>
          </a:p>
        </p:txBody>
      </p:sp>
      <p:sp>
        <p:nvSpPr>
          <p:cNvPr id="5" name="Footer Placeholder 4">
            <a:extLst>
              <a:ext uri="{FF2B5EF4-FFF2-40B4-BE49-F238E27FC236}">
                <a16:creationId xmlns:a16="http://schemas.microsoft.com/office/drawing/2014/main" id="{D03DCAC9-2F98-EE2A-9ECC-51B4E3547C8D}"/>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395790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36ECF-6E31-A640-2B27-45C68DBCE58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25ECFFB-A9B5-8190-6DC7-7DBE974DE355}"/>
              </a:ext>
            </a:extLst>
          </p:cNvPr>
          <p:cNvSpPr>
            <a:spLocks noGrp="1"/>
          </p:cNvSpPr>
          <p:nvPr>
            <p:ph type="body" sz="quarter" idx="12"/>
          </p:nvPr>
        </p:nvSpPr>
        <p:spPr>
          <a:xfrm>
            <a:off x="684213" y="1280160"/>
            <a:ext cx="10891551" cy="4932404"/>
          </a:xfrm>
        </p:spPr>
        <p:txBody>
          <a:bodyPr/>
          <a:lstStyle/>
          <a:p>
            <a:pPr marL="342900" indent="-342900">
              <a:buFont typeface="+mj-lt"/>
              <a:buAutoNum type="arabicPeriod"/>
            </a:pPr>
            <a:r>
              <a:rPr lang="en-US" sz="1400" b="1" dirty="0"/>
              <a:t>Expanded FHIR Integration</a:t>
            </a:r>
            <a:r>
              <a:rPr lang="en-US" sz="1400" dirty="0"/>
              <a:t> </a:t>
            </a:r>
          </a:p>
          <a:p>
            <a:pPr marL="790575" lvl="1" indent="-342900">
              <a:buFont typeface="Arial" panose="020B0604020202020204" pitchFamily="34" charset="0"/>
              <a:buChar char="•"/>
            </a:pPr>
            <a:r>
              <a:rPr lang="en-US" dirty="0"/>
              <a:t>Further adoption of FHIR-based infrastructure will enhance the scalability and flexibility of dQMs.</a:t>
            </a:r>
          </a:p>
          <a:p>
            <a:pPr marL="342900" indent="-342900">
              <a:buFont typeface="+mj-lt"/>
              <a:buAutoNum type="arabicPeriod"/>
            </a:pPr>
            <a:r>
              <a:rPr lang="en-US" sz="1400" b="1" dirty="0"/>
              <a:t>Next-Generation Analytics</a:t>
            </a:r>
            <a:r>
              <a:rPr lang="en-US" sz="1400" dirty="0"/>
              <a:t> </a:t>
            </a:r>
          </a:p>
          <a:p>
            <a:pPr marL="790575" lvl="1" indent="-342900">
              <a:buFont typeface="Arial" panose="020B0604020202020204" pitchFamily="34" charset="0"/>
              <a:buChar char="•"/>
            </a:pPr>
            <a:r>
              <a:rPr lang="en-US" dirty="0"/>
              <a:t>Advancements in artificial intelligence (AI) and machine learning (ML) could leverage dQMs for predictive analytics and personalized interventions.</a:t>
            </a:r>
          </a:p>
          <a:p>
            <a:pPr marL="342900" indent="-342900">
              <a:buFont typeface="+mj-lt"/>
              <a:buAutoNum type="arabicPeriod"/>
            </a:pPr>
            <a:r>
              <a:rPr lang="en-US" sz="1400" b="1" dirty="0"/>
              <a:t>Broader Use Cases</a:t>
            </a:r>
            <a:endParaRPr lang="en-US" sz="1400" dirty="0"/>
          </a:p>
          <a:p>
            <a:pPr marL="790575" lvl="1" indent="-342900">
              <a:buFont typeface="Arial" panose="020B0604020202020204" pitchFamily="34" charset="0"/>
              <a:buChar char="•"/>
            </a:pPr>
            <a:r>
              <a:rPr lang="en-US" dirty="0"/>
              <a:t>Beyond quality reporting, CQL and dQMs could support broader applications, such as research and public health initiatives.</a:t>
            </a:r>
          </a:p>
          <a:p>
            <a:pPr marL="342900" indent="-342900">
              <a:buFont typeface="+mj-lt"/>
              <a:buAutoNum type="arabicPeriod"/>
            </a:pPr>
            <a:r>
              <a:rPr lang="en-US" sz="1400" b="1" dirty="0"/>
              <a:t>Simplification of Standards</a:t>
            </a:r>
            <a:r>
              <a:rPr lang="en-US" sz="1400" dirty="0"/>
              <a:t> </a:t>
            </a:r>
          </a:p>
          <a:p>
            <a:pPr marL="790575" lvl="1" indent="-342900">
              <a:buFont typeface="Arial" panose="020B0604020202020204" pitchFamily="34" charset="0"/>
              <a:buChar char="•"/>
            </a:pPr>
            <a:r>
              <a:rPr lang="en-US" dirty="0"/>
              <a:t>Efforts to simplify and harmonize standards will make dQMs more accessible to smaller organizations.</a:t>
            </a:r>
          </a:p>
          <a:p>
            <a:pPr marL="342900" indent="-342900">
              <a:buFont typeface="+mj-lt"/>
              <a:buAutoNum type="arabicPeriod"/>
            </a:pPr>
            <a:r>
              <a:rPr lang="en-US" sz="1400" b="1" dirty="0"/>
              <a:t>Increased Interoperability Mandates</a:t>
            </a:r>
            <a:endParaRPr lang="en-US" sz="1400" dirty="0"/>
          </a:p>
          <a:p>
            <a:pPr marL="733425" lvl="1" indent="-285750">
              <a:buFont typeface="Arial" panose="020B0604020202020204" pitchFamily="34" charset="0"/>
              <a:buChar char="•"/>
            </a:pPr>
            <a:r>
              <a:rPr lang="en-US" dirty="0"/>
              <a:t>Regulatory frameworks (e.g., TEFCA in the U.S.) are expected to push for greater interoperability, accelerating the adoption of dQMs.</a:t>
            </a:r>
          </a:p>
          <a:p>
            <a:pPr marL="342900" indent="-342900">
              <a:buFont typeface="+mj-lt"/>
              <a:buAutoNum type="arabicPeriod"/>
            </a:pPr>
            <a:r>
              <a:rPr lang="en-US" sz="1400" b="1" dirty="0"/>
              <a:t>Real-Time Quality Dashboards</a:t>
            </a:r>
            <a:r>
              <a:rPr lang="en-US" sz="1400" dirty="0"/>
              <a:t> </a:t>
            </a:r>
          </a:p>
          <a:p>
            <a:pPr marL="790575" lvl="1" indent="-342900">
              <a:buFont typeface="Arial" panose="020B0604020202020204" pitchFamily="34" charset="0"/>
              <a:buChar char="•"/>
            </a:pPr>
            <a:r>
              <a:rPr lang="en-US" dirty="0"/>
              <a:t>Emerging tools will offer providers real-time visibility into their performance on quality measures, driving proactive improvements.</a:t>
            </a:r>
          </a:p>
          <a:p>
            <a:pPr marL="342900" indent="-342900">
              <a:buFont typeface="+mj-lt"/>
              <a:buAutoNum type="arabicPeriod"/>
            </a:pPr>
            <a:r>
              <a:rPr lang="en-US" sz="1400" b="1" dirty="0"/>
              <a:t>Global Adoption</a:t>
            </a:r>
            <a:r>
              <a:rPr lang="en-US" sz="1400" dirty="0"/>
              <a:t> </a:t>
            </a:r>
          </a:p>
          <a:p>
            <a:pPr marL="790575" lvl="1" indent="-342900">
              <a:buFont typeface="Arial" panose="020B0604020202020204" pitchFamily="34" charset="0"/>
              <a:buChar char="•"/>
            </a:pPr>
            <a:r>
              <a:rPr lang="en-US" dirty="0"/>
              <a:t>As international standards converge around FHIR and CQL, dQMs could become a global benchmark for quality measurement.</a:t>
            </a:r>
            <a:endParaRPr lang="en-US" sz="4400" dirty="0"/>
          </a:p>
        </p:txBody>
      </p:sp>
      <p:sp>
        <p:nvSpPr>
          <p:cNvPr id="4" name="Slide Number Placeholder 3">
            <a:extLst>
              <a:ext uri="{FF2B5EF4-FFF2-40B4-BE49-F238E27FC236}">
                <a16:creationId xmlns:a16="http://schemas.microsoft.com/office/drawing/2014/main" id="{A1C7E480-F7FB-336B-E9A8-C9BDB71480E4}"/>
              </a:ext>
            </a:extLst>
          </p:cNvPr>
          <p:cNvSpPr>
            <a:spLocks noGrp="1"/>
          </p:cNvSpPr>
          <p:nvPr>
            <p:ph type="sldNum" sz="quarter" idx="11"/>
          </p:nvPr>
        </p:nvSpPr>
        <p:spPr/>
        <p:txBody>
          <a:bodyPr/>
          <a:lstStyle/>
          <a:p>
            <a:fld id="{EECC7194-A4D0-457B-9D3E-53681723AFF7}" type="slidenum">
              <a:rPr lang="en-US" smtClean="0"/>
              <a:pPr/>
              <a:t>11</a:t>
            </a:fld>
            <a:endParaRPr lang="en-US" dirty="0"/>
          </a:p>
        </p:txBody>
      </p:sp>
      <p:sp>
        <p:nvSpPr>
          <p:cNvPr id="6" name="Title 5">
            <a:extLst>
              <a:ext uri="{FF2B5EF4-FFF2-40B4-BE49-F238E27FC236}">
                <a16:creationId xmlns:a16="http://schemas.microsoft.com/office/drawing/2014/main" id="{DBDDFA22-F7E1-68DC-F78C-58C244FA5FAB}"/>
              </a:ext>
            </a:extLst>
          </p:cNvPr>
          <p:cNvSpPr>
            <a:spLocks noGrp="1"/>
          </p:cNvSpPr>
          <p:nvPr>
            <p:ph type="title"/>
          </p:nvPr>
        </p:nvSpPr>
        <p:spPr>
          <a:xfrm>
            <a:off x="684000" y="338328"/>
            <a:ext cx="11162238" cy="556194"/>
          </a:xfrm>
        </p:spPr>
        <p:txBody>
          <a:bodyPr/>
          <a:lstStyle/>
          <a:p>
            <a:r>
              <a:rPr lang="en-US" cap="none" dirty="0"/>
              <a:t>What’s Next for CQL and Quality Measures</a:t>
            </a:r>
          </a:p>
        </p:txBody>
      </p:sp>
      <p:sp>
        <p:nvSpPr>
          <p:cNvPr id="2" name="Footer Placeholder 1">
            <a:extLst>
              <a:ext uri="{FF2B5EF4-FFF2-40B4-BE49-F238E27FC236}">
                <a16:creationId xmlns:a16="http://schemas.microsoft.com/office/drawing/2014/main" id="{941D160B-75C2-B16A-2C7D-31AE7E2C21D9}"/>
              </a:ext>
            </a:extLst>
          </p:cNvPr>
          <p:cNvSpPr>
            <a:spLocks noGrp="1"/>
          </p:cNvSpPr>
          <p:nvPr>
            <p:ph type="ftr" sz="quarter" idx="10"/>
          </p:nvPr>
        </p:nvSpPr>
        <p:spPr/>
        <p:txBody>
          <a:bodyPr/>
          <a:lstStyle/>
          <a:p>
            <a:r>
              <a:rPr lang="en-US"/>
              <a:t>Copyright © 2026 Hans Esquivel. All Rights Reserved.</a:t>
            </a:r>
            <a:endParaRPr lang="en-US" dirty="0"/>
          </a:p>
        </p:txBody>
      </p:sp>
    </p:spTree>
    <p:extLst>
      <p:ext uri="{BB962C8B-B14F-4D97-AF65-F5344CB8AC3E}">
        <p14:creationId xmlns:p14="http://schemas.microsoft.com/office/powerpoint/2010/main" val="1647370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Scientist looking at test tube">
            <a:extLst>
              <a:ext uri="{FF2B5EF4-FFF2-40B4-BE49-F238E27FC236}">
                <a16:creationId xmlns:a16="http://schemas.microsoft.com/office/drawing/2014/main" id="{F923CFB6-5709-405C-8762-B310D3F21953}"/>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C17F5BF1-88DB-42F2-98A6-4C7FBFC311C4}"/>
              </a:ext>
            </a:extLst>
          </p:cNvPr>
          <p:cNvSpPr>
            <a:spLocks noGrp="1"/>
          </p:cNvSpPr>
          <p:nvPr>
            <p:ph type="ctrTitle"/>
          </p:nvPr>
        </p:nvSpPr>
        <p:spPr>
          <a:solidFill>
            <a:schemeClr val="accent4">
              <a:lumMod val="75000"/>
              <a:alpha val="70000"/>
            </a:schemeClr>
          </a:solidFill>
        </p:spPr>
        <p:txBody>
          <a:bodyPr/>
          <a:lstStyle/>
          <a:p>
            <a:r>
              <a:rPr lang="en-US" dirty="0"/>
              <a:t>Thank You!</a:t>
            </a:r>
          </a:p>
        </p:txBody>
      </p:sp>
      <p:sp>
        <p:nvSpPr>
          <p:cNvPr id="4" name="Text Placeholder 3">
            <a:extLst>
              <a:ext uri="{FF2B5EF4-FFF2-40B4-BE49-F238E27FC236}">
                <a16:creationId xmlns:a16="http://schemas.microsoft.com/office/drawing/2014/main" id="{7E7E363B-55F5-4528-8A9D-A5D90055CD92}"/>
              </a:ext>
            </a:extLst>
          </p:cNvPr>
          <p:cNvSpPr>
            <a:spLocks noGrp="1"/>
          </p:cNvSpPr>
          <p:nvPr>
            <p:ph type="body" sz="quarter" idx="13"/>
          </p:nvPr>
        </p:nvSpPr>
        <p:spPr/>
        <p:txBody>
          <a:bodyPr/>
          <a:lstStyle/>
          <a:p>
            <a:r>
              <a:rPr lang="en-US" dirty="0">
                <a:solidFill>
                  <a:schemeClr val="bg1">
                    <a:lumMod val="85000"/>
                  </a:schemeClr>
                </a:solidFill>
              </a:rPr>
              <a:t>Hans Esquivel</a:t>
            </a:r>
          </a:p>
        </p:txBody>
      </p:sp>
      <p:sp>
        <p:nvSpPr>
          <p:cNvPr id="5" name="Text Placeholder 4">
            <a:extLst>
              <a:ext uri="{FF2B5EF4-FFF2-40B4-BE49-F238E27FC236}">
                <a16:creationId xmlns:a16="http://schemas.microsoft.com/office/drawing/2014/main" id="{045FEE4F-333C-40EF-B46D-8D25C79C05D2}"/>
              </a:ext>
            </a:extLst>
          </p:cNvPr>
          <p:cNvSpPr>
            <a:spLocks noGrp="1"/>
          </p:cNvSpPr>
          <p:nvPr>
            <p:ph type="body" sz="quarter" idx="14"/>
          </p:nvPr>
        </p:nvSpPr>
        <p:spPr/>
        <p:txBody>
          <a:bodyPr/>
          <a:lstStyle/>
          <a:p>
            <a:endParaRPr lang="en-US" dirty="0"/>
          </a:p>
        </p:txBody>
      </p:sp>
      <p:sp>
        <p:nvSpPr>
          <p:cNvPr id="6" name="Text Placeholder 5">
            <a:extLst>
              <a:ext uri="{FF2B5EF4-FFF2-40B4-BE49-F238E27FC236}">
                <a16:creationId xmlns:a16="http://schemas.microsoft.com/office/drawing/2014/main" id="{05F44DEB-FABF-4ADE-B7EB-29DFAFA3DFF6}"/>
              </a:ext>
            </a:extLst>
          </p:cNvPr>
          <p:cNvSpPr>
            <a:spLocks noGrp="1"/>
          </p:cNvSpPr>
          <p:nvPr>
            <p:ph type="body" sz="quarter" idx="15"/>
          </p:nvPr>
        </p:nvSpPr>
        <p:spPr/>
        <p:txBody>
          <a:bodyPr/>
          <a:lstStyle/>
          <a:p>
            <a:endParaRPr lang="en-US" dirty="0"/>
          </a:p>
        </p:txBody>
      </p:sp>
      <p:sp>
        <p:nvSpPr>
          <p:cNvPr id="7" name="Text Placeholder 6">
            <a:extLst>
              <a:ext uri="{FF2B5EF4-FFF2-40B4-BE49-F238E27FC236}">
                <a16:creationId xmlns:a16="http://schemas.microsoft.com/office/drawing/2014/main" id="{CF795760-75DB-4415-BB10-2C6299BBF11C}"/>
              </a:ext>
            </a:extLst>
          </p:cNvPr>
          <p:cNvSpPr>
            <a:spLocks noGrp="1"/>
          </p:cNvSpPr>
          <p:nvPr>
            <p:ph type="body" sz="quarter" idx="16"/>
          </p:nvPr>
        </p:nvSpPr>
        <p:spPr/>
        <p:txBody>
          <a:bodyPr/>
          <a:lstStyle/>
          <a:p>
            <a:r>
              <a:rPr lang="en-US" dirty="0"/>
              <a:t>Consultant| Analytics &amp; AI</a:t>
            </a:r>
          </a:p>
        </p:txBody>
      </p:sp>
      <p:sp>
        <p:nvSpPr>
          <p:cNvPr id="18" name="Rectangle 17">
            <a:extLst>
              <a:ext uri="{FF2B5EF4-FFF2-40B4-BE49-F238E27FC236}">
                <a16:creationId xmlns:a16="http://schemas.microsoft.com/office/drawing/2014/main" id="{AAF39051-1049-4508-8373-6A289966AA59}"/>
              </a:ext>
              <a:ext uri="{C183D7F6-B498-43B3-948B-1728B52AA6E4}">
                <adec:decorative xmlns:adec="http://schemas.microsoft.com/office/drawing/2017/decorative" val="1"/>
              </a:ext>
            </a:extLst>
          </p:cNvPr>
          <p:cNvSpPr/>
          <p:nvPr/>
        </p:nvSpPr>
        <p:spPr>
          <a:xfrm>
            <a:off x="781399" y="2238573"/>
            <a:ext cx="10629202" cy="119042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bject 7" descr="Beige rectangle">
            <a:extLst>
              <a:ext uri="{FF2B5EF4-FFF2-40B4-BE49-F238E27FC236}">
                <a16:creationId xmlns:a16="http://schemas.microsoft.com/office/drawing/2014/main" id="{2D7851E8-1907-4C8A-A16F-E461B5BFA940}"/>
              </a:ext>
            </a:extLst>
          </p:cNvPr>
          <p:cNvSpPr/>
          <p:nvPr/>
        </p:nvSpPr>
        <p:spPr bwMode="white">
          <a:xfrm flipV="1">
            <a:off x="1204699" y="3791667"/>
            <a:ext cx="4416172"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dirty="0"/>
          </a:p>
        </p:txBody>
      </p:sp>
      <p:grpSp>
        <p:nvGrpSpPr>
          <p:cNvPr id="46" name="Group 45" descr="Icon Phone">
            <a:extLst>
              <a:ext uri="{FF2B5EF4-FFF2-40B4-BE49-F238E27FC236}">
                <a16:creationId xmlns:a16="http://schemas.microsoft.com/office/drawing/2014/main" id="{4BB2D73A-DB1F-47D9-9BDA-D6F01A0EDC06}"/>
              </a:ext>
            </a:extLst>
          </p:cNvPr>
          <p:cNvGrpSpPr/>
          <p:nvPr/>
        </p:nvGrpSpPr>
        <p:grpSpPr>
          <a:xfrm>
            <a:off x="1365937" y="5637315"/>
            <a:ext cx="297521" cy="297521"/>
            <a:chOff x="1334697" y="5606075"/>
            <a:chExt cx="360000" cy="360000"/>
          </a:xfrm>
        </p:grpSpPr>
        <p:sp>
          <p:nvSpPr>
            <p:cNvPr id="47" name="Freeform: Shape 46">
              <a:extLst>
                <a:ext uri="{FF2B5EF4-FFF2-40B4-BE49-F238E27FC236}">
                  <a16:creationId xmlns:a16="http://schemas.microsoft.com/office/drawing/2014/main" id="{3C40AF29-F294-4B60-B5B4-56011134948E}"/>
                </a:ext>
              </a:extLst>
            </p:cNvPr>
            <p:cNvSpPr/>
            <p:nvPr/>
          </p:nvSpPr>
          <p:spPr>
            <a:xfrm>
              <a:off x="1423220" y="562446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bg2"/>
              </a:solidFill>
              <a:prstDash val="solid"/>
              <a:round/>
            </a:ln>
          </p:spPr>
          <p:txBody>
            <a:bodyPr rtlCol="0" anchor="ctr"/>
            <a:lstStyle/>
            <a:p>
              <a:endParaRPr lang="en-US" dirty="0"/>
            </a:p>
          </p:txBody>
        </p:sp>
        <p:sp>
          <p:nvSpPr>
            <p:cNvPr id="48" name="Freeform: Shape 47">
              <a:extLst>
                <a:ext uri="{FF2B5EF4-FFF2-40B4-BE49-F238E27FC236}">
                  <a16:creationId xmlns:a16="http://schemas.microsoft.com/office/drawing/2014/main" id="{82F5782C-5E0E-47EA-861C-88990A8D95DF}"/>
                </a:ext>
              </a:extLst>
            </p:cNvPr>
            <p:cNvSpPr/>
            <p:nvPr/>
          </p:nvSpPr>
          <p:spPr>
            <a:xfrm>
              <a:off x="1491815" y="5800385"/>
              <a:ext cx="9525" cy="9525"/>
            </a:xfrm>
            <a:custGeom>
              <a:avLst/>
              <a:gdLst>
                <a:gd name="connsiteX0" fmla="*/ 0 w 9525"/>
                <a:gd name="connsiteY0" fmla="*/ 0 h 9525"/>
                <a:gd name="connsiteX1" fmla="*/ 17145 w 9525"/>
                <a:gd name="connsiteY1" fmla="*/ 18098 h 9525"/>
              </a:gdLst>
              <a:ahLst/>
              <a:cxnLst>
                <a:cxn ang="0">
                  <a:pos x="connsiteX0" y="connsiteY0"/>
                </a:cxn>
                <a:cxn ang="0">
                  <a:pos x="connsiteX1" y="connsiteY1"/>
                </a:cxn>
              </a:cxnLst>
              <a:rect l="l" t="t" r="r" b="b"/>
              <a:pathLst>
                <a:path w="9525" h="9525">
                  <a:moveTo>
                    <a:pt x="0" y="0"/>
                  </a:moveTo>
                  <a:lnTo>
                    <a:pt x="17145" y="18098"/>
                  </a:lnTo>
                </a:path>
              </a:pathLst>
            </a:custGeom>
            <a:ln w="23813" cap="flat">
              <a:solidFill>
                <a:schemeClr val="bg2"/>
              </a:solidFill>
              <a:prstDash val="solid"/>
              <a:round/>
            </a:ln>
          </p:spPr>
          <p:txBody>
            <a:bodyPr rtlCol="0" anchor="ctr"/>
            <a:lstStyle/>
            <a:p>
              <a:endParaRPr lang="en-US" dirty="0"/>
            </a:p>
          </p:txBody>
        </p:sp>
        <p:sp>
          <p:nvSpPr>
            <p:cNvPr id="49" name="Freeform: Shape 48">
              <a:extLst>
                <a:ext uri="{FF2B5EF4-FFF2-40B4-BE49-F238E27FC236}">
                  <a16:creationId xmlns:a16="http://schemas.microsoft.com/office/drawing/2014/main" id="{0ACDDF69-03CD-491C-A9E4-08E5726C5BD3}"/>
                </a:ext>
              </a:extLst>
            </p:cNvPr>
            <p:cNvSpPr/>
            <p:nvPr/>
          </p:nvSpPr>
          <p:spPr>
            <a:xfrm>
              <a:off x="1334697" y="5606075"/>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2"/>
              </a:solidFill>
              <a:prstDash val="solid"/>
              <a:miter/>
            </a:ln>
          </p:spPr>
          <p:txBody>
            <a:bodyPr rtlCol="0" anchor="ctr"/>
            <a:lstStyle/>
            <a:p>
              <a:endParaRPr lang="en-US" dirty="0"/>
            </a:p>
          </p:txBody>
        </p:sp>
      </p:grpSp>
      <p:grpSp>
        <p:nvGrpSpPr>
          <p:cNvPr id="50" name="Group 49" descr="Icon Email">
            <a:extLst>
              <a:ext uri="{FF2B5EF4-FFF2-40B4-BE49-F238E27FC236}">
                <a16:creationId xmlns:a16="http://schemas.microsoft.com/office/drawing/2014/main" id="{F7F47E31-EB9A-4529-BE0F-A1213B79FE07}"/>
              </a:ext>
            </a:extLst>
          </p:cNvPr>
          <p:cNvGrpSpPr/>
          <p:nvPr/>
        </p:nvGrpSpPr>
        <p:grpSpPr>
          <a:xfrm>
            <a:off x="1365937" y="5133777"/>
            <a:ext cx="297521" cy="297521"/>
            <a:chOff x="1334697" y="5102537"/>
            <a:chExt cx="360000" cy="360000"/>
          </a:xfrm>
        </p:grpSpPr>
        <p:grpSp>
          <p:nvGrpSpPr>
            <p:cNvPr id="51" name="Group 50">
              <a:extLst>
                <a:ext uri="{FF2B5EF4-FFF2-40B4-BE49-F238E27FC236}">
                  <a16:creationId xmlns:a16="http://schemas.microsoft.com/office/drawing/2014/main" id="{299C0ACA-AA85-4505-A8DF-0275634D7832}"/>
                </a:ext>
              </a:extLst>
            </p:cNvPr>
            <p:cNvGrpSpPr/>
            <p:nvPr/>
          </p:nvGrpSpPr>
          <p:grpSpPr>
            <a:xfrm>
              <a:off x="1413695" y="5129259"/>
              <a:ext cx="257175" cy="257175"/>
              <a:chOff x="1423220" y="5138784"/>
              <a:chExt cx="257175" cy="257175"/>
            </a:xfrm>
          </p:grpSpPr>
          <p:sp>
            <p:nvSpPr>
              <p:cNvPr id="53" name="Freeform: Shape 52">
                <a:extLst>
                  <a:ext uri="{FF2B5EF4-FFF2-40B4-BE49-F238E27FC236}">
                    <a16:creationId xmlns:a16="http://schemas.microsoft.com/office/drawing/2014/main" id="{85AA236B-9A92-4808-B7BB-0AEF3FD2754B}"/>
                  </a:ext>
                </a:extLst>
              </p:cNvPr>
              <p:cNvSpPr/>
              <p:nvPr/>
            </p:nvSpPr>
            <p:spPr>
              <a:xfrm>
                <a:off x="1423220" y="513878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bg2"/>
                </a:solidFill>
                <a:prstDash val="solid"/>
                <a:round/>
              </a:ln>
            </p:spPr>
            <p:txBody>
              <a:bodyPr rtlCol="0" anchor="ctr"/>
              <a:lstStyle/>
              <a:p>
                <a:endParaRPr lang="en-US" dirty="0"/>
              </a:p>
            </p:txBody>
          </p:sp>
          <p:sp>
            <p:nvSpPr>
              <p:cNvPr id="54" name="Freeform: Shape 53">
                <a:extLst>
                  <a:ext uri="{FF2B5EF4-FFF2-40B4-BE49-F238E27FC236}">
                    <a16:creationId xmlns:a16="http://schemas.microsoft.com/office/drawing/2014/main" id="{94E72230-A0A3-4A80-AD64-FE14B4AA1A95}"/>
                  </a:ext>
                </a:extLst>
              </p:cNvPr>
              <p:cNvSpPr/>
              <p:nvPr/>
            </p:nvSpPr>
            <p:spPr>
              <a:xfrm>
                <a:off x="1427045" y="5144212"/>
                <a:ext cx="161925" cy="161925"/>
              </a:xfrm>
              <a:custGeom>
                <a:avLst/>
                <a:gdLst>
                  <a:gd name="connsiteX0" fmla="*/ 0 w 161925"/>
                  <a:gd name="connsiteY0" fmla="*/ 162878 h 161925"/>
                  <a:gd name="connsiteX1" fmla="*/ 141923 w 161925"/>
                  <a:gd name="connsiteY1" fmla="*/ 135255 h 161925"/>
                  <a:gd name="connsiteX2" fmla="*/ 162878 w 161925"/>
                  <a:gd name="connsiteY2" fmla="*/ 0 h 161925"/>
                </a:gdLst>
                <a:ahLst/>
                <a:cxnLst>
                  <a:cxn ang="0">
                    <a:pos x="connsiteX0" y="connsiteY0"/>
                  </a:cxn>
                  <a:cxn ang="0">
                    <a:pos x="connsiteX1" y="connsiteY1"/>
                  </a:cxn>
                  <a:cxn ang="0">
                    <a:pos x="connsiteX2" y="connsiteY2"/>
                  </a:cxn>
                </a:cxnLst>
                <a:rect l="l" t="t" r="r" b="b"/>
                <a:pathLst>
                  <a:path w="161925" h="161925">
                    <a:moveTo>
                      <a:pt x="0" y="162878"/>
                    </a:moveTo>
                    <a:lnTo>
                      <a:pt x="141923" y="135255"/>
                    </a:lnTo>
                    <a:lnTo>
                      <a:pt x="162878" y="0"/>
                    </a:lnTo>
                  </a:path>
                </a:pathLst>
              </a:custGeom>
              <a:noFill/>
              <a:ln w="23813" cap="flat">
                <a:solidFill>
                  <a:schemeClr val="bg2"/>
                </a:solidFill>
                <a:prstDash val="solid"/>
                <a:round/>
              </a:ln>
            </p:spPr>
            <p:txBody>
              <a:bodyPr rtlCol="0" anchor="ctr"/>
              <a:lstStyle/>
              <a:p>
                <a:endParaRPr lang="en-US" dirty="0"/>
              </a:p>
            </p:txBody>
          </p:sp>
        </p:grpSp>
        <p:sp>
          <p:nvSpPr>
            <p:cNvPr id="52" name="Freeform: Shape 51">
              <a:extLst>
                <a:ext uri="{FF2B5EF4-FFF2-40B4-BE49-F238E27FC236}">
                  <a16:creationId xmlns:a16="http://schemas.microsoft.com/office/drawing/2014/main" id="{D01D119F-74E1-4482-B664-AAD0BB5B651F}"/>
                </a:ext>
              </a:extLst>
            </p:cNvPr>
            <p:cNvSpPr/>
            <p:nvPr/>
          </p:nvSpPr>
          <p:spPr>
            <a:xfrm>
              <a:off x="1334697" y="5102537"/>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2"/>
              </a:solidFill>
              <a:prstDash val="solid"/>
              <a:miter/>
            </a:ln>
          </p:spPr>
          <p:txBody>
            <a:bodyPr rtlCol="0" anchor="ctr"/>
            <a:lstStyle/>
            <a:p>
              <a:endParaRPr lang="en-US" dirty="0"/>
            </a:p>
          </p:txBody>
        </p:sp>
      </p:grpSp>
      <p:grpSp>
        <p:nvGrpSpPr>
          <p:cNvPr id="55" name="Group 54" descr="Icon Person">
            <a:extLst>
              <a:ext uri="{FF2B5EF4-FFF2-40B4-BE49-F238E27FC236}">
                <a16:creationId xmlns:a16="http://schemas.microsoft.com/office/drawing/2014/main" id="{9E1A2D9D-4A3F-4720-9A14-FFD74FC5C7A2}"/>
              </a:ext>
            </a:extLst>
          </p:cNvPr>
          <p:cNvGrpSpPr/>
          <p:nvPr/>
        </p:nvGrpSpPr>
        <p:grpSpPr>
          <a:xfrm>
            <a:off x="1365937" y="4611901"/>
            <a:ext cx="297521" cy="297521"/>
            <a:chOff x="1334697" y="4580661"/>
            <a:chExt cx="360000" cy="360000"/>
          </a:xfrm>
        </p:grpSpPr>
        <p:grpSp>
          <p:nvGrpSpPr>
            <p:cNvPr id="56" name="Group 55">
              <a:extLst>
                <a:ext uri="{FF2B5EF4-FFF2-40B4-BE49-F238E27FC236}">
                  <a16:creationId xmlns:a16="http://schemas.microsoft.com/office/drawing/2014/main" id="{FBC59C07-FDEC-40D0-BE4E-E1FAC0DEBC4A}"/>
                </a:ext>
              </a:extLst>
            </p:cNvPr>
            <p:cNvGrpSpPr/>
            <p:nvPr/>
          </p:nvGrpSpPr>
          <p:grpSpPr>
            <a:xfrm>
              <a:off x="1421012" y="4633770"/>
              <a:ext cx="180975" cy="231458"/>
              <a:chOff x="1443237" y="4633770"/>
              <a:chExt cx="180975" cy="231458"/>
            </a:xfrm>
          </p:grpSpPr>
          <p:sp>
            <p:nvSpPr>
              <p:cNvPr id="58" name="Freeform: Shape 57">
                <a:extLst>
                  <a:ext uri="{FF2B5EF4-FFF2-40B4-BE49-F238E27FC236}">
                    <a16:creationId xmlns:a16="http://schemas.microsoft.com/office/drawing/2014/main" id="{15EC7012-98A7-4A94-8CC9-0EC3408A6BC4}"/>
                  </a:ext>
                </a:extLst>
              </p:cNvPr>
              <p:cNvSpPr/>
              <p:nvPr/>
            </p:nvSpPr>
            <p:spPr>
              <a:xfrm>
                <a:off x="1478479" y="4633770"/>
                <a:ext cx="114300" cy="114300"/>
              </a:xfrm>
              <a:custGeom>
                <a:avLst/>
                <a:gdLst>
                  <a:gd name="connsiteX0" fmla="*/ 118110 w 114300"/>
                  <a:gd name="connsiteY0" fmla="*/ 59055 h 114300"/>
                  <a:gd name="connsiteX1" fmla="*/ 59055 w 114300"/>
                  <a:gd name="connsiteY1" fmla="*/ 118110 h 114300"/>
                  <a:gd name="connsiteX2" fmla="*/ 0 w 114300"/>
                  <a:gd name="connsiteY2" fmla="*/ 59055 h 114300"/>
                  <a:gd name="connsiteX3" fmla="*/ 59055 w 114300"/>
                  <a:gd name="connsiteY3" fmla="*/ 0 h 114300"/>
                  <a:gd name="connsiteX4" fmla="*/ 118110 w 114300"/>
                  <a:gd name="connsiteY4" fmla="*/ 5905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8110" y="59055"/>
                    </a:moveTo>
                    <a:cubicBezTo>
                      <a:pt x="118110" y="91440"/>
                      <a:pt x="91440" y="118110"/>
                      <a:pt x="59055" y="118110"/>
                    </a:cubicBezTo>
                    <a:cubicBezTo>
                      <a:pt x="26670" y="118110"/>
                      <a:pt x="0" y="91440"/>
                      <a:pt x="0" y="59055"/>
                    </a:cubicBezTo>
                    <a:cubicBezTo>
                      <a:pt x="0" y="26670"/>
                      <a:pt x="26670" y="0"/>
                      <a:pt x="59055" y="0"/>
                    </a:cubicBezTo>
                    <a:cubicBezTo>
                      <a:pt x="91440" y="0"/>
                      <a:pt x="118110" y="25718"/>
                      <a:pt x="118110" y="59055"/>
                    </a:cubicBezTo>
                    <a:close/>
                  </a:path>
                </a:pathLst>
              </a:custGeom>
              <a:noFill/>
              <a:ln w="23813" cap="flat">
                <a:solidFill>
                  <a:schemeClr val="bg2"/>
                </a:solid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519FE88-ED74-4D46-86D2-F2530BE46026}"/>
                  </a:ext>
                </a:extLst>
              </p:cNvPr>
              <p:cNvSpPr/>
              <p:nvPr/>
            </p:nvSpPr>
            <p:spPr>
              <a:xfrm>
                <a:off x="1443237" y="4798553"/>
                <a:ext cx="180975" cy="66675"/>
              </a:xfrm>
              <a:custGeom>
                <a:avLst/>
                <a:gdLst>
                  <a:gd name="connsiteX0" fmla="*/ 0 w 180975"/>
                  <a:gd name="connsiteY0" fmla="*/ 72390 h 66675"/>
                  <a:gd name="connsiteX1" fmla="*/ 94298 w 180975"/>
                  <a:gd name="connsiteY1" fmla="*/ 0 h 66675"/>
                  <a:gd name="connsiteX2" fmla="*/ 188595 w 180975"/>
                  <a:gd name="connsiteY2" fmla="*/ 72390 h 66675"/>
                </a:gdLst>
                <a:ahLst/>
                <a:cxnLst>
                  <a:cxn ang="0">
                    <a:pos x="connsiteX0" y="connsiteY0"/>
                  </a:cxn>
                  <a:cxn ang="0">
                    <a:pos x="connsiteX1" y="connsiteY1"/>
                  </a:cxn>
                  <a:cxn ang="0">
                    <a:pos x="connsiteX2" y="connsiteY2"/>
                  </a:cxn>
                </a:cxnLst>
                <a:rect l="l" t="t" r="r" b="b"/>
                <a:pathLst>
                  <a:path w="180975" h="66675">
                    <a:moveTo>
                      <a:pt x="0" y="72390"/>
                    </a:moveTo>
                    <a:cubicBezTo>
                      <a:pt x="0" y="20955"/>
                      <a:pt x="41910" y="0"/>
                      <a:pt x="94298" y="0"/>
                    </a:cubicBezTo>
                    <a:cubicBezTo>
                      <a:pt x="146685" y="0"/>
                      <a:pt x="188595" y="20955"/>
                      <a:pt x="188595" y="72390"/>
                    </a:cubicBezTo>
                  </a:path>
                </a:pathLst>
              </a:custGeom>
              <a:noFill/>
              <a:ln w="23813" cap="flat">
                <a:solidFill>
                  <a:schemeClr val="bg2"/>
                </a:solidFill>
                <a:prstDash val="solid"/>
                <a:miter/>
              </a:ln>
            </p:spPr>
            <p:txBody>
              <a:bodyPr rtlCol="0" anchor="ctr"/>
              <a:lstStyle/>
              <a:p>
                <a:endParaRPr lang="en-US" dirty="0"/>
              </a:p>
            </p:txBody>
          </p:sp>
        </p:grpSp>
        <p:sp>
          <p:nvSpPr>
            <p:cNvPr id="57" name="Freeform: Shape 56">
              <a:extLst>
                <a:ext uri="{FF2B5EF4-FFF2-40B4-BE49-F238E27FC236}">
                  <a16:creationId xmlns:a16="http://schemas.microsoft.com/office/drawing/2014/main" id="{03AF6D1D-DE4A-460B-A540-E7DACF1F333F}"/>
                </a:ext>
              </a:extLst>
            </p:cNvPr>
            <p:cNvSpPr/>
            <p:nvPr/>
          </p:nvSpPr>
          <p:spPr>
            <a:xfrm>
              <a:off x="1334697" y="4580661"/>
              <a:ext cx="360000" cy="360000"/>
            </a:xfrm>
            <a:custGeom>
              <a:avLst/>
              <a:gdLst>
                <a:gd name="connsiteX0" fmla="*/ 0 w 360000"/>
                <a:gd name="connsiteY0" fmla="*/ 0 h 360000"/>
                <a:gd name="connsiteX1" fmla="*/ 83322 w 360000"/>
                <a:gd name="connsiteY1" fmla="*/ 0 h 360000"/>
                <a:gd name="connsiteX2" fmla="*/ 83322 w 360000"/>
                <a:gd name="connsiteY2" fmla="*/ 68850 h 360000"/>
                <a:gd name="connsiteX3" fmla="*/ 276679 w 360000"/>
                <a:gd name="connsiteY3" fmla="*/ 68850 h 360000"/>
                <a:gd name="connsiteX4" fmla="*/ 276679 w 360000"/>
                <a:gd name="connsiteY4" fmla="*/ 0 h 360000"/>
                <a:gd name="connsiteX5" fmla="*/ 360000 w 360000"/>
                <a:gd name="connsiteY5" fmla="*/ 0 h 360000"/>
                <a:gd name="connsiteX6" fmla="*/ 360000 w 360000"/>
                <a:gd name="connsiteY6" fmla="*/ 360000 h 360000"/>
                <a:gd name="connsiteX7" fmla="*/ 0 w 360000"/>
                <a:gd name="connsiteY7" fmla="*/ 360000 h 360000"/>
                <a:gd name="connsiteX0" fmla="*/ 276679 w 368119"/>
                <a:gd name="connsiteY0" fmla="*/ 68850 h 360000"/>
                <a:gd name="connsiteX1" fmla="*/ 276679 w 368119"/>
                <a:gd name="connsiteY1" fmla="*/ 0 h 360000"/>
                <a:gd name="connsiteX2" fmla="*/ 360000 w 368119"/>
                <a:gd name="connsiteY2" fmla="*/ 0 h 360000"/>
                <a:gd name="connsiteX3" fmla="*/ 360000 w 368119"/>
                <a:gd name="connsiteY3" fmla="*/ 360000 h 360000"/>
                <a:gd name="connsiteX4" fmla="*/ 0 w 368119"/>
                <a:gd name="connsiteY4" fmla="*/ 360000 h 360000"/>
                <a:gd name="connsiteX5" fmla="*/ 0 w 368119"/>
                <a:gd name="connsiteY5" fmla="*/ 0 h 360000"/>
                <a:gd name="connsiteX6" fmla="*/ 83322 w 368119"/>
                <a:gd name="connsiteY6" fmla="*/ 0 h 360000"/>
                <a:gd name="connsiteX7" fmla="*/ 83322 w 368119"/>
                <a:gd name="connsiteY7" fmla="*/ 68850 h 360000"/>
                <a:gd name="connsiteX8" fmla="*/ 368119 w 368119"/>
                <a:gd name="connsiteY8" fmla="*/ 16029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7" fmla="*/ 83322 w 360000"/>
                <a:gd name="connsiteY7" fmla="*/ 6885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0" fmla="*/ 276679 w 360000"/>
                <a:gd name="connsiteY0" fmla="*/ 0 h 360000"/>
                <a:gd name="connsiteX1" fmla="*/ 360000 w 360000"/>
                <a:gd name="connsiteY1" fmla="*/ 0 h 360000"/>
                <a:gd name="connsiteX2" fmla="*/ 360000 w 360000"/>
                <a:gd name="connsiteY2" fmla="*/ 360000 h 360000"/>
                <a:gd name="connsiteX3" fmla="*/ 0 w 360000"/>
                <a:gd name="connsiteY3" fmla="*/ 360000 h 360000"/>
                <a:gd name="connsiteX4" fmla="*/ 0 w 360000"/>
                <a:gd name="connsiteY4" fmla="*/ 0 h 360000"/>
                <a:gd name="connsiteX5" fmla="*/ 83322 w 360000"/>
                <a:gd name="connsiteY5" fmla="*/ 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000" h="360000">
                  <a:moveTo>
                    <a:pt x="276679" y="0"/>
                  </a:moveTo>
                  <a:lnTo>
                    <a:pt x="360000" y="0"/>
                  </a:lnTo>
                  <a:lnTo>
                    <a:pt x="360000" y="360000"/>
                  </a:lnTo>
                  <a:lnTo>
                    <a:pt x="0" y="360000"/>
                  </a:lnTo>
                  <a:lnTo>
                    <a:pt x="0" y="0"/>
                  </a:lnTo>
                  <a:lnTo>
                    <a:pt x="83322" y="0"/>
                  </a:lnTo>
                </a:path>
              </a:pathLst>
            </a:custGeom>
            <a:noFill/>
            <a:ln w="9525" cap="flat">
              <a:solidFill>
                <a:schemeClr val="bg2"/>
              </a:solidFill>
              <a:prstDash val="solid"/>
              <a:miter/>
            </a:ln>
          </p:spPr>
          <p:txBody>
            <a:bodyPr rtlCol="0" anchor="ctr"/>
            <a:lstStyle/>
            <a:p>
              <a:endParaRPr lang="en-US" dirty="0"/>
            </a:p>
          </p:txBody>
        </p:sp>
      </p:grpSp>
    </p:spTree>
    <p:extLst>
      <p:ext uri="{BB962C8B-B14F-4D97-AF65-F5344CB8AC3E}">
        <p14:creationId xmlns:p14="http://schemas.microsoft.com/office/powerpoint/2010/main" val="3476954114"/>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S Healthcare Pitch">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gs>
            <a:gs pos="100000">
              <a:schemeClr val="accent2"/>
            </a:gs>
          </a:gsLst>
          <a:lin ang="14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MB Healthcare Pitch Deck SB_v3" id="{F20654C3-30CB-4A23-AE37-CA3918CCFD51}" vid="{71C4247B-9648-406B-9B0E-E712402798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C66BDC7-24D2-4343-8D41-18F9C23F860A}">
  <ds:schemaRefs>
    <ds:schemaRef ds:uri="http://schemas.microsoft.com/sharepoint/v3/contenttype/forms"/>
  </ds:schemaRefs>
</ds:datastoreItem>
</file>

<file path=customXml/itemProps2.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healthcare_01</Template>
  <TotalTime>1283</TotalTime>
  <Words>1702</Words>
  <Application>Microsoft Office PowerPoint</Application>
  <PresentationFormat>Widescreen</PresentationFormat>
  <Paragraphs>130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Wingdings</vt:lpstr>
      <vt:lpstr>Office Theme</vt:lpstr>
      <vt:lpstr>Enabling Value-Based Care Microsoft Fabric &amp; Power BI</vt:lpstr>
      <vt:lpstr>Innovative Approach</vt:lpstr>
      <vt:lpstr>Overview of dQMs and CQL, and the Role of FHIR </vt:lpstr>
      <vt:lpstr>…Overview of dQMs and CQL, and the Role of FHIR </vt:lpstr>
      <vt:lpstr>Advantages of dQMs vs Current Approaches</vt:lpstr>
      <vt:lpstr>Key Roadblocks and Critical Considerations for Implementation</vt:lpstr>
      <vt:lpstr>Solution Approach and Features</vt:lpstr>
      <vt:lpstr>PowerPoint Presentation</vt:lpstr>
      <vt:lpstr>Key Milestones &amp; Timeline</vt:lpstr>
      <vt:lpstr>PowerPoint Presentation</vt:lpstr>
      <vt:lpstr>What’s Next for CQL and Quality Measures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HANS ESQUIVEL</dc:creator>
  <cp:lastModifiedBy>HANS ESQUIVEL</cp:lastModifiedBy>
  <cp:revision>104</cp:revision>
  <dcterms:created xsi:type="dcterms:W3CDTF">2025-01-30T18:28:02Z</dcterms:created>
  <dcterms:modified xsi:type="dcterms:W3CDTF">2026-01-16T18:48:31Z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